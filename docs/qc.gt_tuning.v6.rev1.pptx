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40"/>
  </p:notesMasterIdLst>
  <p:sldIdLst>
    <p:sldId id="257" r:id="rId2"/>
    <p:sldId id="340" r:id="rId3"/>
    <p:sldId id="396" r:id="rId4"/>
    <p:sldId id="321" r:id="rId5"/>
    <p:sldId id="397" r:id="rId6"/>
    <p:sldId id="361" r:id="rId7"/>
    <p:sldId id="363" r:id="rId8"/>
    <p:sldId id="362" r:id="rId9"/>
    <p:sldId id="344" r:id="rId10"/>
    <p:sldId id="419" r:id="rId11"/>
    <p:sldId id="365" r:id="rId12"/>
    <p:sldId id="366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20" r:id="rId23"/>
    <p:sldId id="381" r:id="rId24"/>
    <p:sldId id="382" r:id="rId25"/>
    <p:sldId id="417" r:id="rId26"/>
    <p:sldId id="415" r:id="rId27"/>
    <p:sldId id="333" r:id="rId28"/>
    <p:sldId id="334" r:id="rId29"/>
    <p:sldId id="418" r:id="rId30"/>
    <p:sldId id="387" r:id="rId31"/>
    <p:sldId id="391" r:id="rId32"/>
    <p:sldId id="389" r:id="rId33"/>
    <p:sldId id="410" r:id="rId34"/>
    <p:sldId id="411" r:id="rId35"/>
    <p:sldId id="300" r:id="rId36"/>
    <p:sldId id="301" r:id="rId37"/>
    <p:sldId id="302" r:id="rId38"/>
    <p:sldId id="303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A845A588-CC06-5C4D-B01D-F329A9A01036}">
          <p14:sldIdLst>
            <p14:sldId id="257"/>
            <p14:sldId id="340"/>
            <p14:sldId id="396"/>
            <p14:sldId id="321"/>
            <p14:sldId id="397"/>
            <p14:sldId id="361"/>
            <p14:sldId id="363"/>
            <p14:sldId id="362"/>
            <p14:sldId id="344"/>
            <p14:sldId id="419"/>
            <p14:sldId id="365"/>
            <p14:sldId id="366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20"/>
            <p14:sldId id="381"/>
            <p14:sldId id="382"/>
            <p14:sldId id="417"/>
            <p14:sldId id="415"/>
            <p14:sldId id="333"/>
            <p14:sldId id="334"/>
            <p14:sldId id="418"/>
            <p14:sldId id="387"/>
            <p14:sldId id="391"/>
            <p14:sldId id="389"/>
            <p14:sldId id="410"/>
            <p14:sldId id="411"/>
          </p14:sldIdLst>
        </p14:section>
        <p14:section name="supplement" id="{3AD42941-E236-DF48-9514-0813AACDADF8}">
          <p14:sldIdLst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2"/>
    <p:restoredTop sz="85912"/>
  </p:normalViewPr>
  <p:slideViewPr>
    <p:cSldViewPr snapToGrid="0">
      <p:cViewPr varScale="1">
        <p:scale>
          <a:sx n="136" d="100"/>
          <a:sy n="13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.tie.36i@st.kyoto-u.ac.jp" userId="ed3c7d8c-5c8a-4f8b-862a-10e99fd42a1d" providerId="ADAL" clId="{8D03B36F-06FB-5B40-A92A-A047FE2C2DDC}"/>
    <pc:docChg chg="undo custSel addSld delSld modSld sldOrd addMainMaster delMainMaster modMainMaster addSection modSection">
      <pc:chgData name="zhao.tie.36i@st.kyoto-u.ac.jp" userId="ed3c7d8c-5c8a-4f8b-862a-10e99fd42a1d" providerId="ADAL" clId="{8D03B36F-06FB-5B40-A92A-A047FE2C2DDC}" dt="2026-10-13T05:59:58.980" v="2395" actId="1036"/>
      <pc:docMkLst>
        <pc:docMk/>
      </pc:docMkLst>
      <pc:sldChg chg="addSp delSp modSp add mod ord">
        <pc:chgData name="zhao.tie.36i@st.kyoto-u.ac.jp" userId="ed3c7d8c-5c8a-4f8b-862a-10e99fd42a1d" providerId="ADAL" clId="{8D03B36F-06FB-5B40-A92A-A047FE2C2DDC}" dt="2026-10-07T13:23:36.294" v="1877" actId="113"/>
        <pc:sldMkLst>
          <pc:docMk/>
          <pc:sldMk cId="2531109726" sldId="257"/>
        </pc:sldMkLst>
        <pc:spChg chg="mod">
          <ac:chgData name="zhao.tie.36i@st.kyoto-u.ac.jp" userId="ed3c7d8c-5c8a-4f8b-862a-10e99fd42a1d" providerId="ADAL" clId="{8D03B36F-06FB-5B40-A92A-A047FE2C2DDC}" dt="2026-09-16T04:58:47.163" v="1772" actId="113"/>
          <ac:spMkLst>
            <pc:docMk/>
            <pc:sldMk cId="2531109726" sldId="257"/>
            <ac:spMk id="3" creationId="{BBAD0899-EF75-AD46-6655-CADAB6B25CB9}"/>
          </ac:spMkLst>
        </pc:spChg>
        <pc:spChg chg="mod">
          <ac:chgData name="zhao.tie.36i@st.kyoto-u.ac.jp" userId="ed3c7d8c-5c8a-4f8b-862a-10e99fd42a1d" providerId="ADAL" clId="{8D03B36F-06FB-5B40-A92A-A047FE2C2DDC}" dt="2026-10-07T13:23:36.294" v="1877" actId="113"/>
          <ac:spMkLst>
            <pc:docMk/>
            <pc:sldMk cId="2531109726" sldId="257"/>
            <ac:spMk id="7" creationId="{14BE42B6-3468-59A0-F061-A0A22C0B45C8}"/>
          </ac:spMkLst>
        </pc:spChg>
        <pc:spChg chg="mod">
          <ac:chgData name="zhao.tie.36i@st.kyoto-u.ac.jp" userId="ed3c7d8c-5c8a-4f8b-862a-10e99fd42a1d" providerId="ADAL" clId="{8D03B36F-06FB-5B40-A92A-A047FE2C2DDC}" dt="2026-09-16T04:57:34.270" v="1767" actId="20577"/>
          <ac:spMkLst>
            <pc:docMk/>
            <pc:sldMk cId="2531109726" sldId="257"/>
            <ac:spMk id="9" creationId="{8D1448A4-56F4-7063-117B-3993EE25D744}"/>
          </ac:spMkLst>
        </pc:spChg>
      </pc:sldChg>
      <pc:sldChg chg="addSp modSp mod">
        <pc:chgData name="zhao.tie.36i@st.kyoto-u.ac.jp" userId="ed3c7d8c-5c8a-4f8b-862a-10e99fd42a1d" providerId="ADAL" clId="{8D03B36F-06FB-5B40-A92A-A047FE2C2DDC}" dt="2026-10-07T13:42:46.774" v="2144"/>
        <pc:sldMkLst>
          <pc:docMk/>
          <pc:sldMk cId="1456843170" sldId="300"/>
        </pc:sldMkLst>
        <pc:spChg chg="add mod">
          <ac:chgData name="zhao.tie.36i@st.kyoto-u.ac.jp" userId="ed3c7d8c-5c8a-4f8b-862a-10e99fd42a1d" providerId="ADAL" clId="{8D03B36F-06FB-5B40-A92A-A047FE2C2DDC}" dt="2026-10-07T13:42:46.774" v="2144"/>
          <ac:spMkLst>
            <pc:docMk/>
            <pc:sldMk cId="1456843170" sldId="300"/>
            <ac:spMk id="2" creationId="{A41839BA-A1A2-7443-B0A2-70BCC50C3CF9}"/>
          </ac:spMkLst>
        </pc:spChg>
        <pc:picChg chg="mod">
          <ac:chgData name="zhao.tie.36i@st.kyoto-u.ac.jp" userId="ed3c7d8c-5c8a-4f8b-862a-10e99fd42a1d" providerId="ADAL" clId="{8D03B36F-06FB-5B40-A92A-A047FE2C2DDC}" dt="2026-10-07T13:42:46.771" v="2135"/>
          <ac:picMkLst>
            <pc:docMk/>
            <pc:sldMk cId="1456843170" sldId="300"/>
            <ac:picMk id="7170" creationId="{87258D3F-02AD-AD7A-177E-2D3E1DC6FC26}"/>
          </ac:picMkLst>
        </pc:picChg>
      </pc:sldChg>
      <pc:sldChg chg="addSp modSp mod">
        <pc:chgData name="zhao.tie.36i@st.kyoto-u.ac.jp" userId="ed3c7d8c-5c8a-4f8b-862a-10e99fd42a1d" providerId="ADAL" clId="{8D03B36F-06FB-5B40-A92A-A047FE2C2DDC}" dt="2026-10-07T13:42:46.806" v="2157"/>
        <pc:sldMkLst>
          <pc:docMk/>
          <pc:sldMk cId="3475274823" sldId="301"/>
        </pc:sldMkLst>
        <pc:spChg chg="add mod">
          <ac:chgData name="zhao.tie.36i@st.kyoto-u.ac.jp" userId="ed3c7d8c-5c8a-4f8b-862a-10e99fd42a1d" providerId="ADAL" clId="{8D03B36F-06FB-5B40-A92A-A047FE2C2DDC}" dt="2026-10-07T13:42:46.806" v="2157"/>
          <ac:spMkLst>
            <pc:docMk/>
            <pc:sldMk cId="3475274823" sldId="301"/>
            <ac:spMk id="2" creationId="{EC5E42BB-EE17-EB46-8058-BB258E467BEC}"/>
          </ac:spMkLst>
        </pc:spChg>
        <pc:picChg chg="mod">
          <ac:chgData name="zhao.tie.36i@st.kyoto-u.ac.jp" userId="ed3c7d8c-5c8a-4f8b-862a-10e99fd42a1d" providerId="ADAL" clId="{8D03B36F-06FB-5B40-A92A-A047FE2C2DDC}" dt="2026-10-07T13:42:46.803" v="2148"/>
          <ac:picMkLst>
            <pc:docMk/>
            <pc:sldMk cId="3475274823" sldId="301"/>
            <ac:picMk id="8194" creationId="{E361346A-9055-AAE4-5B58-13BDD3BBADF9}"/>
          </ac:picMkLst>
        </pc:picChg>
      </pc:sldChg>
      <pc:sldChg chg="addSp modSp mod">
        <pc:chgData name="zhao.tie.36i@st.kyoto-u.ac.jp" userId="ed3c7d8c-5c8a-4f8b-862a-10e99fd42a1d" providerId="ADAL" clId="{8D03B36F-06FB-5B40-A92A-A047FE2C2DDC}" dt="2026-10-07T13:42:46.820" v="2170"/>
        <pc:sldMkLst>
          <pc:docMk/>
          <pc:sldMk cId="1804201601" sldId="302"/>
        </pc:sldMkLst>
        <pc:spChg chg="add mod">
          <ac:chgData name="zhao.tie.36i@st.kyoto-u.ac.jp" userId="ed3c7d8c-5c8a-4f8b-862a-10e99fd42a1d" providerId="ADAL" clId="{8D03B36F-06FB-5B40-A92A-A047FE2C2DDC}" dt="2026-10-07T13:42:46.820" v="2170"/>
          <ac:spMkLst>
            <pc:docMk/>
            <pc:sldMk cId="1804201601" sldId="302"/>
            <ac:spMk id="2" creationId="{1B24C22D-DE9F-B34E-92CC-AAEF8493FDE5}"/>
          </ac:spMkLst>
        </pc:spChg>
        <pc:picChg chg="mod">
          <ac:chgData name="zhao.tie.36i@st.kyoto-u.ac.jp" userId="ed3c7d8c-5c8a-4f8b-862a-10e99fd42a1d" providerId="ADAL" clId="{8D03B36F-06FB-5B40-A92A-A047FE2C2DDC}" dt="2026-10-07T13:42:46.818" v="2161"/>
          <ac:picMkLst>
            <pc:docMk/>
            <pc:sldMk cId="1804201601" sldId="302"/>
            <ac:picMk id="9218" creationId="{CF707B5D-AAD0-ECA8-A622-D3C10E16DCD4}"/>
          </ac:picMkLst>
        </pc:picChg>
      </pc:sldChg>
      <pc:sldChg chg="addSp modSp mod">
        <pc:chgData name="zhao.tie.36i@st.kyoto-u.ac.jp" userId="ed3c7d8c-5c8a-4f8b-862a-10e99fd42a1d" providerId="ADAL" clId="{8D03B36F-06FB-5B40-A92A-A047FE2C2DDC}" dt="2026-10-07T13:42:46.834" v="2187"/>
        <pc:sldMkLst>
          <pc:docMk/>
          <pc:sldMk cId="1549645277" sldId="303"/>
        </pc:sldMkLst>
        <pc:spChg chg="add mod">
          <ac:chgData name="zhao.tie.36i@st.kyoto-u.ac.jp" userId="ed3c7d8c-5c8a-4f8b-862a-10e99fd42a1d" providerId="ADAL" clId="{8D03B36F-06FB-5B40-A92A-A047FE2C2DDC}" dt="2026-10-07T13:42:46.834" v="2187"/>
          <ac:spMkLst>
            <pc:docMk/>
            <pc:sldMk cId="1549645277" sldId="303"/>
            <ac:spMk id="2" creationId="{93070D88-F781-C44C-B9A7-8F4E3D423C5F}"/>
          </ac:spMkLst>
        </pc:spChg>
        <pc:picChg chg="mod">
          <ac:chgData name="zhao.tie.36i@st.kyoto-u.ac.jp" userId="ed3c7d8c-5c8a-4f8b-862a-10e99fd42a1d" providerId="ADAL" clId="{8D03B36F-06FB-5B40-A92A-A047FE2C2DDC}" dt="2026-10-07T13:42:46.827" v="2174"/>
          <ac:picMkLst>
            <pc:docMk/>
            <pc:sldMk cId="1549645277" sldId="303"/>
            <ac:picMk id="10242" creationId="{6B37E503-24B7-3C7A-514B-5EE19A03FB29}"/>
          </ac:picMkLst>
        </pc:picChg>
        <pc:picChg chg="mod">
          <ac:chgData name="zhao.tie.36i@st.kyoto-u.ac.jp" userId="ed3c7d8c-5c8a-4f8b-862a-10e99fd42a1d" providerId="ADAL" clId="{8D03B36F-06FB-5B40-A92A-A047FE2C2DDC}" dt="2026-10-07T13:42:46.832" v="2178"/>
          <ac:picMkLst>
            <pc:docMk/>
            <pc:sldMk cId="1549645277" sldId="303"/>
            <ac:picMk id="10244" creationId="{52C84C49-951C-6FA8-9004-EB7DF8910CA3}"/>
          </ac:picMkLst>
        </pc:picChg>
      </pc:sldChg>
      <pc:sldChg chg="modSp add del mod">
        <pc:chgData name="zhao.tie.36i@st.kyoto-u.ac.jp" userId="ed3c7d8c-5c8a-4f8b-862a-10e99fd42a1d" providerId="ADAL" clId="{8D03B36F-06FB-5B40-A92A-A047FE2C2DDC}" dt="2026-10-06T06:00:09.723" v="1872"/>
        <pc:sldMkLst>
          <pc:docMk/>
          <pc:sldMk cId="1531385898" sldId="321"/>
        </pc:sldMkLst>
      </pc:sldChg>
      <pc:sldChg chg="addSp modSp add mod">
        <pc:chgData name="zhao.tie.36i@st.kyoto-u.ac.jp" userId="ed3c7d8c-5c8a-4f8b-862a-10e99fd42a1d" providerId="ADAL" clId="{8D03B36F-06FB-5B40-A92A-A047FE2C2DDC}" dt="2026-10-07T13:39:01.792" v="2080"/>
        <pc:sldMkLst>
          <pc:docMk/>
          <pc:sldMk cId="3534911658" sldId="333"/>
        </pc:sldMkLst>
        <pc:spChg chg="add mod">
          <ac:chgData name="zhao.tie.36i@st.kyoto-u.ac.jp" userId="ed3c7d8c-5c8a-4f8b-862a-10e99fd42a1d" providerId="ADAL" clId="{8D03B36F-06FB-5B40-A92A-A047FE2C2DDC}" dt="2026-10-07T13:39:01.792" v="2080"/>
          <ac:spMkLst>
            <pc:docMk/>
            <pc:sldMk cId="3534911658" sldId="333"/>
            <ac:spMk id="2" creationId="{304C04B6-48CD-4648-B960-941E45B11AC6}"/>
          </ac:spMkLst>
        </pc:spChg>
        <pc:spChg chg="mod">
          <ac:chgData name="zhao.tie.36i@st.kyoto-u.ac.jp" userId="ed3c7d8c-5c8a-4f8b-862a-10e99fd42a1d" providerId="ADAL" clId="{8D03B36F-06FB-5B40-A92A-A047FE2C2DDC}" dt="2026-10-07T13:39:01.789" v="2070"/>
          <ac:spMkLst>
            <pc:docMk/>
            <pc:sldMk cId="3534911658" sldId="333"/>
            <ac:spMk id="5" creationId="{D27958D0-4AA5-CAFB-6F97-D569194FE616}"/>
          </ac:spMkLst>
        </pc:spChg>
        <pc:picChg chg="mod">
          <ac:chgData name="zhao.tie.36i@st.kyoto-u.ac.jp" userId="ed3c7d8c-5c8a-4f8b-862a-10e99fd42a1d" providerId="ADAL" clId="{8D03B36F-06FB-5B40-A92A-A047FE2C2DDC}" dt="2026-10-07T13:39:01.788" v="2067"/>
          <ac:picMkLst>
            <pc:docMk/>
            <pc:sldMk cId="3534911658" sldId="333"/>
            <ac:picMk id="1026" creationId="{BCC6E025-1418-580E-5297-15AC4A84595C}"/>
          </ac:picMkLst>
        </pc:picChg>
      </pc:sldChg>
      <pc:sldChg chg="addSp modSp add mod">
        <pc:chgData name="zhao.tie.36i@st.kyoto-u.ac.jp" userId="ed3c7d8c-5c8a-4f8b-862a-10e99fd42a1d" providerId="ADAL" clId="{8D03B36F-06FB-5B40-A92A-A047FE2C2DDC}" dt="2026-10-07T13:39:01.822" v="2097"/>
        <pc:sldMkLst>
          <pc:docMk/>
          <pc:sldMk cId="3719242113" sldId="334"/>
        </pc:sldMkLst>
        <pc:spChg chg="add mod">
          <ac:chgData name="zhao.tie.36i@st.kyoto-u.ac.jp" userId="ed3c7d8c-5c8a-4f8b-862a-10e99fd42a1d" providerId="ADAL" clId="{8D03B36F-06FB-5B40-A92A-A047FE2C2DDC}" dt="2026-10-07T13:39:01.822" v="2097"/>
          <ac:spMkLst>
            <pc:docMk/>
            <pc:sldMk cId="3719242113" sldId="334"/>
            <ac:spMk id="2" creationId="{42DA4D37-EB01-5E41-9E2F-BCFA0E6D9551}"/>
          </ac:spMkLst>
        </pc:spChg>
        <pc:spChg chg="mod">
          <ac:chgData name="zhao.tie.36i@st.kyoto-u.ac.jp" userId="ed3c7d8c-5c8a-4f8b-862a-10e99fd42a1d" providerId="ADAL" clId="{8D03B36F-06FB-5B40-A92A-A047FE2C2DDC}" dt="2026-10-07T13:39:01.819" v="2087"/>
          <ac:spMkLst>
            <pc:docMk/>
            <pc:sldMk cId="3719242113" sldId="334"/>
            <ac:spMk id="5" creationId="{6C2C193C-09A4-AE90-227E-D4766F98534B}"/>
          </ac:spMkLst>
        </pc:spChg>
        <pc:grpChg chg="mod">
          <ac:chgData name="zhao.tie.36i@st.kyoto-u.ac.jp" userId="ed3c7d8c-5c8a-4f8b-862a-10e99fd42a1d" providerId="ADAL" clId="{8D03B36F-06FB-5B40-A92A-A047FE2C2DDC}" dt="2026-10-07T13:39:01.818" v="2084"/>
          <ac:grpSpMkLst>
            <pc:docMk/>
            <pc:sldMk cId="3719242113" sldId="334"/>
            <ac:grpSpMk id="7" creationId="{F6BDA703-2DB2-F623-5BC9-3429409A67B1}"/>
          </ac:grpSpMkLst>
        </pc:grpChg>
      </pc:sldChg>
      <pc:sldChg chg="addSp delSp modSp add mod">
        <pc:chgData name="zhao.tie.36i@st.kyoto-u.ac.jp" userId="ed3c7d8c-5c8a-4f8b-862a-10e99fd42a1d" providerId="ADAL" clId="{8D03B36F-06FB-5B40-A92A-A047FE2C2DDC}" dt="2026-10-08T12:32:11.856" v="2391" actId="1076"/>
        <pc:sldMkLst>
          <pc:docMk/>
          <pc:sldMk cId="774187035" sldId="340"/>
        </pc:sldMkLst>
        <pc:spChg chg="mod">
          <ac:chgData name="zhao.tie.36i@st.kyoto-u.ac.jp" userId="ed3c7d8c-5c8a-4f8b-862a-10e99fd42a1d" providerId="ADAL" clId="{8D03B36F-06FB-5B40-A92A-A047FE2C2DDC}" dt="2026-10-07T13:42:58.106" v="2191"/>
          <ac:spMkLst>
            <pc:docMk/>
            <pc:sldMk cId="774187035" sldId="340"/>
            <ac:spMk id="8" creationId="{1D1E23B7-FD3E-3BA7-BD8B-F5246764A25B}"/>
          </ac:spMkLst>
        </pc:spChg>
        <pc:picChg chg="add mod">
          <ac:chgData name="zhao.tie.36i@st.kyoto-u.ac.jp" userId="ed3c7d8c-5c8a-4f8b-862a-10e99fd42a1d" providerId="ADAL" clId="{8D03B36F-06FB-5B40-A92A-A047FE2C2DDC}" dt="2026-10-08T12:32:11.856" v="2391" actId="1076"/>
          <ac:picMkLst>
            <pc:docMk/>
            <pc:sldMk cId="774187035" sldId="340"/>
            <ac:picMk id="3" creationId="{268812C7-03A4-07DD-58B9-D6FF0A62BCFF}"/>
          </ac:picMkLst>
        </pc:picChg>
      </pc:sldChg>
      <pc:sldChg chg="modSp add mod">
        <pc:chgData name="zhao.tie.36i@st.kyoto-u.ac.jp" userId="ed3c7d8c-5c8a-4f8b-862a-10e99fd42a1d" providerId="ADAL" clId="{8D03B36F-06FB-5B40-A92A-A047FE2C2DDC}" dt="2026-10-07T13:42:58.137" v="2195"/>
        <pc:sldMkLst>
          <pc:docMk/>
          <pc:sldMk cId="3310533309" sldId="344"/>
        </pc:sldMkLst>
        <pc:spChg chg="mod">
          <ac:chgData name="zhao.tie.36i@st.kyoto-u.ac.jp" userId="ed3c7d8c-5c8a-4f8b-862a-10e99fd42a1d" providerId="ADAL" clId="{8D03B36F-06FB-5B40-A92A-A047FE2C2DDC}" dt="2026-10-07T13:42:58.137" v="2195"/>
          <ac:spMkLst>
            <pc:docMk/>
            <pc:sldMk cId="3310533309" sldId="344"/>
            <ac:spMk id="5" creationId="{070069A2-B7A9-F6B6-9C9E-1DD2717573CA}"/>
          </ac:spMkLst>
        </pc:spChg>
      </pc:sldChg>
      <pc:sldChg chg="modSp add mod">
        <pc:chgData name="zhao.tie.36i@st.kyoto-u.ac.jp" userId="ed3c7d8c-5c8a-4f8b-862a-10e99fd42a1d" providerId="ADAL" clId="{8D03B36F-06FB-5B40-A92A-A047FE2C2DDC}" dt="2026-10-07T13:43:11.465" v="2197"/>
        <pc:sldMkLst>
          <pc:docMk/>
          <pc:sldMk cId="151610883" sldId="361"/>
        </pc:sldMkLst>
        <pc:spChg chg="mod">
          <ac:chgData name="zhao.tie.36i@st.kyoto-u.ac.jp" userId="ed3c7d8c-5c8a-4f8b-862a-10e99fd42a1d" providerId="ADAL" clId="{8D03B36F-06FB-5B40-A92A-A047FE2C2DDC}" dt="2026-10-07T13:43:11.465" v="2197"/>
          <ac:spMkLst>
            <pc:docMk/>
            <pc:sldMk cId="151610883" sldId="361"/>
            <ac:spMk id="4" creationId="{39FBF1DC-35D9-C595-5543-C8602C669603}"/>
          </ac:spMkLst>
        </pc:spChg>
      </pc:sldChg>
      <pc:sldChg chg="add">
        <pc:chgData name="zhao.tie.36i@st.kyoto-u.ac.jp" userId="ed3c7d8c-5c8a-4f8b-862a-10e99fd42a1d" providerId="ADAL" clId="{8D03B36F-06FB-5B40-A92A-A047FE2C2DDC}" dt="2026-10-07T13:30:13.069" v="1994"/>
        <pc:sldMkLst>
          <pc:docMk/>
          <pc:sldMk cId="2954859800" sldId="362"/>
        </pc:sldMkLst>
      </pc:sldChg>
      <pc:sldChg chg="add">
        <pc:chgData name="zhao.tie.36i@st.kyoto-u.ac.jp" userId="ed3c7d8c-5c8a-4f8b-862a-10e99fd42a1d" providerId="ADAL" clId="{8D03B36F-06FB-5B40-A92A-A047FE2C2DDC}" dt="2026-10-07T13:30:24.546" v="1996"/>
        <pc:sldMkLst>
          <pc:docMk/>
          <pc:sldMk cId="1069728642" sldId="363"/>
        </pc:sldMkLst>
      </pc:sldChg>
      <pc:sldChg chg="add">
        <pc:chgData name="zhao.tie.36i@st.kyoto-u.ac.jp" userId="ed3c7d8c-5c8a-4f8b-862a-10e99fd42a1d" providerId="ADAL" clId="{8D03B36F-06FB-5B40-A92A-A047FE2C2DDC}" dt="2026-10-07T13:31:14.369" v="2000"/>
        <pc:sldMkLst>
          <pc:docMk/>
          <pc:sldMk cId="1959493440" sldId="365"/>
        </pc:sldMkLst>
      </pc:sldChg>
      <pc:sldChg chg="add">
        <pc:chgData name="zhao.tie.36i@st.kyoto-u.ac.jp" userId="ed3c7d8c-5c8a-4f8b-862a-10e99fd42a1d" providerId="ADAL" clId="{8D03B36F-06FB-5B40-A92A-A047FE2C2DDC}" dt="2026-10-07T13:31:21.913" v="2002"/>
        <pc:sldMkLst>
          <pc:docMk/>
          <pc:sldMk cId="1289487909" sldId="366"/>
        </pc:sldMkLst>
      </pc:sldChg>
      <pc:sldChg chg="modSp add mod">
        <pc:chgData name="zhao.tie.36i@st.kyoto-u.ac.jp" userId="ed3c7d8c-5c8a-4f8b-862a-10e99fd42a1d" providerId="ADAL" clId="{8D03B36F-06FB-5B40-A92A-A047FE2C2DDC}" dt="2026-10-13T05:59:58.980" v="2395" actId="1036"/>
        <pc:sldMkLst>
          <pc:docMk/>
          <pc:sldMk cId="181997107" sldId="381"/>
        </pc:sldMkLst>
        <pc:picChg chg="mod">
          <ac:chgData name="zhao.tie.36i@st.kyoto-u.ac.jp" userId="ed3c7d8c-5c8a-4f8b-862a-10e99fd42a1d" providerId="ADAL" clId="{8D03B36F-06FB-5B40-A92A-A047FE2C2DDC}" dt="2026-10-13T05:59:58.980" v="2395" actId="1036"/>
          <ac:picMkLst>
            <pc:docMk/>
            <pc:sldMk cId="181997107" sldId="381"/>
            <ac:picMk id="11" creationId="{2B9EEFCA-B539-1F80-2BD4-5FADDD5D1313}"/>
          </ac:picMkLst>
        </pc:picChg>
      </pc:sldChg>
      <pc:sldChg chg="add">
        <pc:chgData name="zhao.tie.36i@st.kyoto-u.ac.jp" userId="ed3c7d8c-5c8a-4f8b-862a-10e99fd42a1d" providerId="ADAL" clId="{8D03B36F-06FB-5B40-A92A-A047FE2C2DDC}" dt="2026-10-07T13:37:03.694" v="2056"/>
        <pc:sldMkLst>
          <pc:docMk/>
          <pc:sldMk cId="459005538" sldId="382"/>
        </pc:sldMkLst>
      </pc:sldChg>
      <pc:sldChg chg="add">
        <pc:chgData name="zhao.tie.36i@st.kyoto-u.ac.jp" userId="ed3c7d8c-5c8a-4f8b-862a-10e99fd42a1d" providerId="ADAL" clId="{8D03B36F-06FB-5B40-A92A-A047FE2C2DDC}" dt="2026-10-07T13:40:10.465" v="2100"/>
        <pc:sldMkLst>
          <pc:docMk/>
          <pc:sldMk cId="2102119220" sldId="387"/>
        </pc:sldMkLst>
      </pc:sldChg>
      <pc:sldChg chg="add">
        <pc:chgData name="zhao.tie.36i@st.kyoto-u.ac.jp" userId="ed3c7d8c-5c8a-4f8b-862a-10e99fd42a1d" providerId="ADAL" clId="{8D03B36F-06FB-5B40-A92A-A047FE2C2DDC}" dt="2026-10-07T13:40:34.397" v="2104"/>
        <pc:sldMkLst>
          <pc:docMk/>
          <pc:sldMk cId="3365690988" sldId="389"/>
        </pc:sldMkLst>
      </pc:sldChg>
      <pc:sldChg chg="add">
        <pc:chgData name="zhao.tie.36i@st.kyoto-u.ac.jp" userId="ed3c7d8c-5c8a-4f8b-862a-10e99fd42a1d" providerId="ADAL" clId="{8D03B36F-06FB-5B40-A92A-A047FE2C2DDC}" dt="2026-10-07T13:40:48.521" v="2108"/>
        <pc:sldMkLst>
          <pc:docMk/>
          <pc:sldMk cId="1087626403" sldId="391"/>
        </pc:sldMkLst>
      </pc:sldChg>
      <pc:sldChg chg="addSp delSp modSp add mod">
        <pc:chgData name="zhao.tie.36i@st.kyoto-u.ac.jp" userId="ed3c7d8c-5c8a-4f8b-862a-10e99fd42a1d" providerId="ADAL" clId="{8D03B36F-06FB-5B40-A92A-A047FE2C2DDC}" dt="2026-10-08T12:32:51.785" v="2394" actId="1076"/>
        <pc:sldMkLst>
          <pc:docMk/>
          <pc:sldMk cId="3002108546" sldId="396"/>
        </pc:sldMkLst>
        <pc:picChg chg="add mod">
          <ac:chgData name="zhao.tie.36i@st.kyoto-u.ac.jp" userId="ed3c7d8c-5c8a-4f8b-862a-10e99fd42a1d" providerId="ADAL" clId="{8D03B36F-06FB-5B40-A92A-A047FE2C2DDC}" dt="2026-10-08T12:32:51.785" v="2394" actId="1076"/>
          <ac:picMkLst>
            <pc:docMk/>
            <pc:sldMk cId="3002108546" sldId="396"/>
            <ac:picMk id="3" creationId="{3C66B530-C893-7D42-C334-1623EAE26FAD}"/>
          </ac:picMkLst>
        </pc:picChg>
      </pc:sldChg>
      <pc:sldChg chg="add">
        <pc:chgData name="zhao.tie.36i@st.kyoto-u.ac.jp" userId="ed3c7d8c-5c8a-4f8b-862a-10e99fd42a1d" providerId="ADAL" clId="{8D03B36F-06FB-5B40-A92A-A047FE2C2DDC}" dt="2026-10-07T14:11:23.627" v="2213"/>
        <pc:sldMkLst>
          <pc:docMk/>
          <pc:sldMk cId="118110966" sldId="397"/>
        </pc:sldMkLst>
      </pc:sldChg>
      <pc:sldChg chg="add">
        <pc:chgData name="zhao.tie.36i@st.kyoto-u.ac.jp" userId="ed3c7d8c-5c8a-4f8b-862a-10e99fd42a1d" providerId="ADAL" clId="{8D03B36F-06FB-5B40-A92A-A047FE2C2DDC}" dt="2026-10-07T14:11:56.599" v="2215"/>
        <pc:sldMkLst>
          <pc:docMk/>
          <pc:sldMk cId="2690284231" sldId="398"/>
        </pc:sldMkLst>
      </pc:sldChg>
      <pc:sldChg chg="add">
        <pc:chgData name="zhao.tie.36i@st.kyoto-u.ac.jp" userId="ed3c7d8c-5c8a-4f8b-862a-10e99fd42a1d" providerId="ADAL" clId="{8D03B36F-06FB-5B40-A92A-A047FE2C2DDC}" dt="2026-10-07T14:12:04.287" v="2217"/>
        <pc:sldMkLst>
          <pc:docMk/>
          <pc:sldMk cId="3028066616" sldId="399"/>
        </pc:sldMkLst>
      </pc:sldChg>
      <pc:sldChg chg="add">
        <pc:chgData name="zhao.tie.36i@st.kyoto-u.ac.jp" userId="ed3c7d8c-5c8a-4f8b-862a-10e99fd42a1d" providerId="ADAL" clId="{8D03B36F-06FB-5B40-A92A-A047FE2C2DDC}" dt="2026-10-07T14:12:12.860" v="2219"/>
        <pc:sldMkLst>
          <pc:docMk/>
          <pc:sldMk cId="873282471" sldId="400"/>
        </pc:sldMkLst>
      </pc:sldChg>
      <pc:sldChg chg="add">
        <pc:chgData name="zhao.tie.36i@st.kyoto-u.ac.jp" userId="ed3c7d8c-5c8a-4f8b-862a-10e99fd42a1d" providerId="ADAL" clId="{8D03B36F-06FB-5B40-A92A-A047FE2C2DDC}" dt="2026-10-07T14:12:21.028" v="2221"/>
        <pc:sldMkLst>
          <pc:docMk/>
          <pc:sldMk cId="3641400000" sldId="401"/>
        </pc:sldMkLst>
      </pc:sldChg>
      <pc:sldChg chg="add">
        <pc:chgData name="zhao.tie.36i@st.kyoto-u.ac.jp" userId="ed3c7d8c-5c8a-4f8b-862a-10e99fd42a1d" providerId="ADAL" clId="{8D03B36F-06FB-5B40-A92A-A047FE2C2DDC}" dt="2026-10-07T14:12:29.269" v="2223"/>
        <pc:sldMkLst>
          <pc:docMk/>
          <pc:sldMk cId="3997645019" sldId="402"/>
        </pc:sldMkLst>
      </pc:sldChg>
      <pc:sldChg chg="add">
        <pc:chgData name="zhao.tie.36i@st.kyoto-u.ac.jp" userId="ed3c7d8c-5c8a-4f8b-862a-10e99fd42a1d" providerId="ADAL" clId="{8D03B36F-06FB-5B40-A92A-A047FE2C2DDC}" dt="2026-10-07T14:13:01.912" v="2225"/>
        <pc:sldMkLst>
          <pc:docMk/>
          <pc:sldMk cId="4228132338" sldId="403"/>
        </pc:sldMkLst>
      </pc:sldChg>
      <pc:sldChg chg="add">
        <pc:chgData name="zhao.tie.36i@st.kyoto-u.ac.jp" userId="ed3c7d8c-5c8a-4f8b-862a-10e99fd42a1d" providerId="ADAL" clId="{8D03B36F-06FB-5B40-A92A-A047FE2C2DDC}" dt="2026-10-07T14:13:10.390" v="2227"/>
        <pc:sldMkLst>
          <pc:docMk/>
          <pc:sldMk cId="3051410393" sldId="404"/>
        </pc:sldMkLst>
      </pc:sldChg>
      <pc:sldChg chg="add">
        <pc:chgData name="zhao.tie.36i@st.kyoto-u.ac.jp" userId="ed3c7d8c-5c8a-4f8b-862a-10e99fd42a1d" providerId="ADAL" clId="{8D03B36F-06FB-5B40-A92A-A047FE2C2DDC}" dt="2026-10-07T14:13:19.092" v="2229"/>
        <pc:sldMkLst>
          <pc:docMk/>
          <pc:sldMk cId="2735344293" sldId="405"/>
        </pc:sldMkLst>
      </pc:sldChg>
      <pc:sldChg chg="add">
        <pc:chgData name="zhao.tie.36i@st.kyoto-u.ac.jp" userId="ed3c7d8c-5c8a-4f8b-862a-10e99fd42a1d" providerId="ADAL" clId="{8D03B36F-06FB-5B40-A92A-A047FE2C2DDC}" dt="2026-10-07T14:13:27.295" v="2231"/>
        <pc:sldMkLst>
          <pc:docMk/>
          <pc:sldMk cId="4200005249" sldId="406"/>
        </pc:sldMkLst>
      </pc:sldChg>
      <pc:sldChg chg="modSp add mod">
        <pc:chgData name="zhao.tie.36i@st.kyoto-u.ac.jp" userId="ed3c7d8c-5c8a-4f8b-862a-10e99fd42a1d" providerId="ADAL" clId="{8D03B36F-06FB-5B40-A92A-A047FE2C2DDC}" dt="2026-10-07T14:15:43.876" v="2257"/>
        <pc:sldMkLst>
          <pc:docMk/>
          <pc:sldMk cId="1057155989" sldId="410"/>
        </pc:sldMkLst>
        <pc:spChg chg="mod">
          <ac:chgData name="zhao.tie.36i@st.kyoto-u.ac.jp" userId="ed3c7d8c-5c8a-4f8b-862a-10e99fd42a1d" providerId="ADAL" clId="{8D03B36F-06FB-5B40-A92A-A047FE2C2DDC}" dt="2026-10-07T14:15:43.864" v="2255"/>
          <ac:spMkLst>
            <pc:docMk/>
            <pc:sldMk cId="1057155989" sldId="410"/>
            <ac:spMk id="201" creationId="{00000000-0000-0000-0000-000000000000}"/>
          </ac:spMkLst>
        </pc:spChg>
        <pc:spChg chg="mod">
          <ac:chgData name="zhao.tie.36i@st.kyoto-u.ac.jp" userId="ed3c7d8c-5c8a-4f8b-862a-10e99fd42a1d" providerId="ADAL" clId="{8D03B36F-06FB-5B40-A92A-A047FE2C2DDC}" dt="2026-10-07T14:15:43.866" v="2256"/>
          <ac:spMkLst>
            <pc:docMk/>
            <pc:sldMk cId="1057155989" sldId="410"/>
            <ac:spMk id="202" creationId="{00000000-0000-0000-0000-000000000000}"/>
          </ac:spMkLst>
        </pc:spChg>
        <pc:spChg chg="mod">
          <ac:chgData name="zhao.tie.36i@st.kyoto-u.ac.jp" userId="ed3c7d8c-5c8a-4f8b-862a-10e99fd42a1d" providerId="ADAL" clId="{8D03B36F-06FB-5B40-A92A-A047FE2C2DDC}" dt="2026-10-07T14:15:43.876" v="2257"/>
          <ac:spMkLst>
            <pc:docMk/>
            <pc:sldMk cId="1057155989" sldId="410"/>
            <ac:spMk id="203" creationId="{00000000-0000-0000-0000-000000000000}"/>
          </ac:spMkLst>
        </pc:spChg>
        <pc:spChg chg="mod">
          <ac:chgData name="zhao.tie.36i@st.kyoto-u.ac.jp" userId="ed3c7d8c-5c8a-4f8b-862a-10e99fd42a1d" providerId="ADAL" clId="{8D03B36F-06FB-5B40-A92A-A047FE2C2DDC}" dt="2026-10-07T14:15:20.498" v="2251"/>
          <ac:spMkLst>
            <pc:docMk/>
            <pc:sldMk cId="1057155989" sldId="410"/>
            <ac:spMk id="231" creationId="{00000000-0000-0000-0000-000000000000}"/>
          </ac:spMkLst>
        </pc:spChg>
        <pc:graphicFrameChg chg="mod">
          <ac:chgData name="zhao.tie.36i@st.kyoto-u.ac.jp" userId="ed3c7d8c-5c8a-4f8b-862a-10e99fd42a1d" providerId="ADAL" clId="{8D03B36F-06FB-5B40-A92A-A047FE2C2DDC}" dt="2026-10-07T14:15:20.503" v="2252"/>
          <ac:graphicFrameMkLst>
            <pc:docMk/>
            <pc:sldMk cId="1057155989" sldId="410"/>
            <ac:graphicFrameMk id="230" creationId="{00000000-0000-0000-0000-000000000000}"/>
          </ac:graphicFrameMkLst>
        </pc:graphicFrameChg>
      </pc:sldChg>
      <pc:sldChg chg="modSp add mod">
        <pc:chgData name="zhao.tie.36i@st.kyoto-u.ac.jp" userId="ed3c7d8c-5c8a-4f8b-862a-10e99fd42a1d" providerId="ADAL" clId="{8D03B36F-06FB-5B40-A92A-A047FE2C2DDC}" dt="2026-10-07T14:15:44.064" v="2265"/>
        <pc:sldMkLst>
          <pc:docMk/>
          <pc:sldMk cId="4044496507" sldId="411"/>
        </pc:sldMkLst>
        <pc:spChg chg="mod">
          <ac:chgData name="zhao.tie.36i@st.kyoto-u.ac.jp" userId="ed3c7d8c-5c8a-4f8b-862a-10e99fd42a1d" providerId="ADAL" clId="{8D03B36F-06FB-5B40-A92A-A047FE2C2DDC}" dt="2026-10-07T14:15:44.061" v="2262"/>
          <ac:spMkLst>
            <pc:docMk/>
            <pc:sldMk cId="4044496507" sldId="411"/>
            <ac:spMk id="200" creationId="{00000000-0000-0000-0000-000000000000}"/>
          </ac:spMkLst>
        </pc:spChg>
        <pc:spChg chg="mod">
          <ac:chgData name="zhao.tie.36i@st.kyoto-u.ac.jp" userId="ed3c7d8c-5c8a-4f8b-862a-10e99fd42a1d" providerId="ADAL" clId="{8D03B36F-06FB-5B40-A92A-A047FE2C2DDC}" dt="2026-10-07T14:15:44.064" v="2264"/>
          <ac:spMkLst>
            <pc:docMk/>
            <pc:sldMk cId="4044496507" sldId="411"/>
            <ac:spMk id="201" creationId="{00000000-0000-0000-0000-000000000000}"/>
          </ac:spMkLst>
        </pc:spChg>
        <pc:spChg chg="mod">
          <ac:chgData name="zhao.tie.36i@st.kyoto-u.ac.jp" userId="ed3c7d8c-5c8a-4f8b-862a-10e99fd42a1d" providerId="ADAL" clId="{8D03B36F-06FB-5B40-A92A-A047FE2C2DDC}" dt="2026-10-07T14:15:44.064" v="2265"/>
          <ac:spMkLst>
            <pc:docMk/>
            <pc:sldMk cId="4044496507" sldId="411"/>
            <ac:spMk id="202" creationId="{00000000-0000-0000-0000-000000000000}"/>
          </ac:spMkLst>
        </pc:spChg>
        <pc:grpChg chg="mod">
          <ac:chgData name="zhao.tie.36i@st.kyoto-u.ac.jp" userId="ed3c7d8c-5c8a-4f8b-862a-10e99fd42a1d" providerId="ADAL" clId="{8D03B36F-06FB-5B40-A92A-A047FE2C2DDC}" dt="2026-10-07T14:15:09.457" v="2246"/>
          <ac:grpSpMkLst>
            <pc:docMk/>
            <pc:sldMk cId="4044496507" sldId="411"/>
            <ac:grpSpMk id="8" creationId="{2D46524D-9585-B9E0-85F1-F791BFB481FD}"/>
          </ac:grpSpMkLst>
        </pc:grpChg>
        <pc:grpChg chg="mod">
          <ac:chgData name="zhao.tie.36i@st.kyoto-u.ac.jp" userId="ed3c7d8c-5c8a-4f8b-862a-10e99fd42a1d" providerId="ADAL" clId="{8D03B36F-06FB-5B40-A92A-A047FE2C2DDC}" dt="2026-10-07T14:15:09.460" v="2250"/>
          <ac:grpSpMkLst>
            <pc:docMk/>
            <pc:sldMk cId="4044496507" sldId="411"/>
            <ac:grpSpMk id="13" creationId="{FE76AAB9-EBED-09E9-D8E2-C018D2A89764}"/>
          </ac:grpSpMkLst>
        </pc:grpChg>
      </pc:sldChg>
      <pc:sldChg chg="modSp add mod">
        <pc:chgData name="zhao.tie.36i@st.kyoto-u.ac.jp" userId="ed3c7d8c-5c8a-4f8b-862a-10e99fd42a1d" providerId="ADAL" clId="{8D03B36F-06FB-5B40-A92A-A047FE2C2DDC}" dt="2026-10-07T14:29:16.208" v="2369"/>
        <pc:sldMkLst>
          <pc:docMk/>
          <pc:sldMk cId="4264820603" sldId="415"/>
        </pc:sldMkLst>
        <pc:spChg chg="mod">
          <ac:chgData name="zhao.tie.36i@st.kyoto-u.ac.jp" userId="ed3c7d8c-5c8a-4f8b-862a-10e99fd42a1d" providerId="ADAL" clId="{8D03B36F-06FB-5B40-A92A-A047FE2C2DDC}" dt="2026-10-07T14:29:16.208" v="2369"/>
          <ac:spMkLst>
            <pc:docMk/>
            <pc:sldMk cId="4264820603" sldId="415"/>
            <ac:spMk id="203" creationId="{00000000-0000-0000-0000-000000000000}"/>
          </ac:spMkLst>
        </pc:spChg>
      </pc:sldChg>
      <pc:sldChg chg="modSp add mod">
        <pc:chgData name="zhao.tie.36i@st.kyoto-u.ac.jp" userId="ed3c7d8c-5c8a-4f8b-862a-10e99fd42a1d" providerId="ADAL" clId="{8D03B36F-06FB-5B40-A92A-A047FE2C2DDC}" dt="2026-10-07T16:21:51.246" v="2384" actId="1076"/>
        <pc:sldMkLst>
          <pc:docMk/>
          <pc:sldMk cId="134285270" sldId="417"/>
        </pc:sldMkLst>
        <pc:spChg chg="mod">
          <ac:chgData name="zhao.tie.36i@st.kyoto-u.ac.jp" userId="ed3c7d8c-5c8a-4f8b-862a-10e99fd42a1d" providerId="ADAL" clId="{8D03B36F-06FB-5B40-A92A-A047FE2C2DDC}" dt="2026-10-07T14:29:16.176" v="2365"/>
          <ac:spMkLst>
            <pc:docMk/>
            <pc:sldMk cId="134285270" sldId="417"/>
            <ac:spMk id="220" creationId="{00000000-0000-0000-0000-000000000000}"/>
          </ac:spMkLst>
        </pc:spChg>
        <pc:spChg chg="mod">
          <ac:chgData name="zhao.tie.36i@st.kyoto-u.ac.jp" userId="ed3c7d8c-5c8a-4f8b-862a-10e99fd42a1d" providerId="ADAL" clId="{8D03B36F-06FB-5B40-A92A-A047FE2C2DDC}" dt="2026-10-07T14:29:16.177" v="2366"/>
          <ac:spMkLst>
            <pc:docMk/>
            <pc:sldMk cId="134285270" sldId="417"/>
            <ac:spMk id="221" creationId="{00000000-0000-0000-0000-000000000000}"/>
          </ac:spMkLst>
        </pc:spChg>
        <pc:spChg chg="mod">
          <ac:chgData name="zhao.tie.36i@st.kyoto-u.ac.jp" userId="ed3c7d8c-5c8a-4f8b-862a-10e99fd42a1d" providerId="ADAL" clId="{8D03B36F-06FB-5B40-A92A-A047FE2C2DDC}" dt="2026-10-07T14:29:16.177" v="2367"/>
          <ac:spMkLst>
            <pc:docMk/>
            <pc:sldMk cId="134285270" sldId="417"/>
            <ac:spMk id="222" creationId="{00000000-0000-0000-0000-000000000000}"/>
          </ac:spMkLst>
        </pc:spChg>
        <pc:spChg chg="mod">
          <ac:chgData name="zhao.tie.36i@st.kyoto-u.ac.jp" userId="ed3c7d8c-5c8a-4f8b-862a-10e99fd42a1d" providerId="ADAL" clId="{8D03B36F-06FB-5B40-A92A-A047FE2C2DDC}" dt="2026-10-07T14:29:05.667" v="2364"/>
          <ac:spMkLst>
            <pc:docMk/>
            <pc:sldMk cId="134285270" sldId="417"/>
            <ac:spMk id="230" creationId="{00000000-0000-0000-0000-000000000000}"/>
          </ac:spMkLst>
        </pc:spChg>
        <pc:picChg chg="mod">
          <ac:chgData name="zhao.tie.36i@st.kyoto-u.ac.jp" userId="ed3c7d8c-5c8a-4f8b-862a-10e99fd42a1d" providerId="ADAL" clId="{8D03B36F-06FB-5B40-A92A-A047FE2C2DDC}" dt="2026-10-07T16:21:51.246" v="2384" actId="1076"/>
          <ac:picMkLst>
            <pc:docMk/>
            <pc:sldMk cId="134285270" sldId="417"/>
            <ac:picMk id="8" creationId="{4D4D52A4-9CFD-C573-90D3-1A84518B8504}"/>
          </ac:picMkLst>
        </pc:picChg>
        <pc:cxnChg chg="mod">
          <ac:chgData name="zhao.tie.36i@st.kyoto-u.ac.jp" userId="ed3c7d8c-5c8a-4f8b-862a-10e99fd42a1d" providerId="ADAL" clId="{8D03B36F-06FB-5B40-A92A-A047FE2C2DDC}" dt="2026-10-07T14:29:05.665" v="2358"/>
          <ac:cxnSpMkLst>
            <pc:docMk/>
            <pc:sldMk cId="134285270" sldId="417"/>
            <ac:cxnSpMk id="210" creationId="{00000000-0000-0000-0000-000000000000}"/>
          </ac:cxnSpMkLst>
        </pc:cxnChg>
        <pc:cxnChg chg="mod">
          <ac:chgData name="zhao.tie.36i@st.kyoto-u.ac.jp" userId="ed3c7d8c-5c8a-4f8b-862a-10e99fd42a1d" providerId="ADAL" clId="{8D03B36F-06FB-5B40-A92A-A047FE2C2DDC}" dt="2026-10-07T14:29:05.665" v="2359"/>
          <ac:cxnSpMkLst>
            <pc:docMk/>
            <pc:sldMk cId="134285270" sldId="417"/>
            <ac:cxnSpMk id="211" creationId="{00000000-0000-0000-0000-000000000000}"/>
          </ac:cxnSpMkLst>
        </pc:cxnChg>
        <pc:cxnChg chg="mod">
          <ac:chgData name="zhao.tie.36i@st.kyoto-u.ac.jp" userId="ed3c7d8c-5c8a-4f8b-862a-10e99fd42a1d" providerId="ADAL" clId="{8D03B36F-06FB-5B40-A92A-A047FE2C2DDC}" dt="2026-10-07T14:29:05.666" v="2360"/>
          <ac:cxnSpMkLst>
            <pc:docMk/>
            <pc:sldMk cId="134285270" sldId="417"/>
            <ac:cxnSpMk id="212" creationId="{00000000-0000-0000-0000-000000000000}"/>
          </ac:cxnSpMkLst>
        </pc:cxnChg>
      </pc:sldChg>
      <pc:sldChg chg="add">
        <pc:chgData name="zhao.tie.36i@st.kyoto-u.ac.jp" userId="ed3c7d8c-5c8a-4f8b-862a-10e99fd42a1d" providerId="ADAL" clId="{8D03B36F-06FB-5B40-A92A-A047FE2C2DDC}" dt="2026-10-07T14:29:00.202" v="2356"/>
        <pc:sldMkLst>
          <pc:docMk/>
          <pc:sldMk cId="3420055967" sldId="418"/>
        </pc:sldMkLst>
      </pc:sldChg>
      <pc:sldChg chg="modSp add mod">
        <pc:chgData name="zhao.tie.36i@st.kyoto-u.ac.jp" userId="ed3c7d8c-5c8a-4f8b-862a-10e99fd42a1d" providerId="ADAL" clId="{8D03B36F-06FB-5B40-A92A-A047FE2C2DDC}" dt="2026-10-07T14:41:44.567" v="2378"/>
        <pc:sldMkLst>
          <pc:docMk/>
          <pc:sldMk cId="3906987956" sldId="419"/>
        </pc:sldMkLst>
        <pc:spChg chg="mod">
          <ac:chgData name="zhao.tie.36i@st.kyoto-u.ac.jp" userId="ed3c7d8c-5c8a-4f8b-862a-10e99fd42a1d" providerId="ADAL" clId="{8D03B36F-06FB-5B40-A92A-A047FE2C2DDC}" dt="2026-10-07T14:41:44.567" v="2378"/>
          <ac:spMkLst>
            <pc:docMk/>
            <pc:sldMk cId="3906987956" sldId="419"/>
            <ac:spMk id="203" creationId="{00000000-0000-0000-0000-000000000000}"/>
          </ac:spMkLst>
        </pc:spChg>
      </pc:sldChg>
      <pc:sldChg chg="modSp add mod">
        <pc:chgData name="zhao.tie.36i@st.kyoto-u.ac.jp" userId="ed3c7d8c-5c8a-4f8b-862a-10e99fd42a1d" providerId="ADAL" clId="{8D03B36F-06FB-5B40-A92A-A047FE2C2DDC}" dt="2026-10-07T14:41:44.610" v="2381"/>
        <pc:sldMkLst>
          <pc:docMk/>
          <pc:sldMk cId="2051172608" sldId="420"/>
        </pc:sldMkLst>
        <pc:spChg chg="mod">
          <ac:chgData name="zhao.tie.36i@st.kyoto-u.ac.jp" userId="ed3c7d8c-5c8a-4f8b-862a-10e99fd42a1d" providerId="ADAL" clId="{8D03B36F-06FB-5B40-A92A-A047FE2C2DDC}" dt="2026-10-07T14:41:44.610" v="2381"/>
          <ac:spMkLst>
            <pc:docMk/>
            <pc:sldMk cId="2051172608" sldId="420"/>
            <ac:spMk id="203" creationId="{00000000-0000-0000-0000-000000000000}"/>
          </ac:spMkLst>
        </pc:spChg>
      </pc:sldChg>
      <pc:sldMasterChg chg="replId modSldLayout">
        <pc:chgData name="zhao.tie.36i@st.kyoto-u.ac.jp" userId="ed3c7d8c-5c8a-4f8b-862a-10e99fd42a1d" providerId="ADAL" clId="{8D03B36F-06FB-5B40-A92A-A047FE2C2DDC}" dt="2026-10-07T13:23:07.622" v="1873"/>
        <pc:sldMasterMkLst>
          <pc:docMk/>
          <pc:sldMasterMk cId="725616630" sldId="2147483661"/>
        </pc:sldMasterMkLst>
        <pc:sldLayoutChg chg="replId">
          <pc:chgData name="zhao.tie.36i@st.kyoto-u.ac.jp" userId="ed3c7d8c-5c8a-4f8b-862a-10e99fd42a1d" providerId="ADAL" clId="{8D03B36F-06FB-5B40-A92A-A047FE2C2DDC}" dt="2026-10-07T13:23:07.622" v="1873"/>
          <pc:sldLayoutMkLst>
            <pc:docMk/>
            <pc:sldMasterMk cId="725616630" sldId="2147483661"/>
            <pc:sldLayoutMk cId="2801629228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D6E969-BA12-5C40-9AC4-B3554C61862E}" type="datetimeFigureOut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92460-39E0-744D-9CDD-5CE4127A9F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671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Before getting into the practical pitfalls, I’d like to first briefly compare whole-genome sequencing and array genotyping, because this difference is really the starting point of our study design.</a:t>
            </a:r>
          </a:p>
          <a:p>
            <a:endParaRPr kumimoji="1" lang="en-US" altLang="zh-CN" dirty="0"/>
          </a:p>
          <a:p>
            <a:r>
              <a:rPr lang="en-US" altLang="zh-CN" dirty="0"/>
              <a:t>At the workflow level, they are fundamentally different.</a:t>
            </a:r>
            <a:br>
              <a:rPr lang="en-US" altLang="zh-CN" dirty="0"/>
            </a:br>
            <a:r>
              <a:rPr lang="en-US" altLang="zh-CN" dirty="0"/>
              <a:t>For WGS, we start from sequencing reads, then perform mapping, and finally variant calling.</a:t>
            </a:r>
            <a:br>
              <a:rPr lang="en-US" altLang="zh-CN" dirty="0"/>
            </a:br>
            <a:r>
              <a:rPr lang="en-US" altLang="zh-CN" dirty="0"/>
              <a:t>So, the genotype is inferred from read-level evidence across the genome.</a:t>
            </a:r>
          </a:p>
          <a:p>
            <a:endParaRPr lang="en-US" altLang="zh-CN" dirty="0"/>
          </a:p>
          <a:p>
            <a:r>
              <a:rPr lang="en-US" altLang="zh-CN" dirty="0"/>
              <a:t>In contrast, array genotyping is based on predefined probe loci.</a:t>
            </a:r>
            <a:br>
              <a:rPr lang="en-US" altLang="zh-CN" dirty="0"/>
            </a:br>
            <a:r>
              <a:rPr lang="en-US" altLang="zh-CN" dirty="0"/>
              <a:t>The genotype is inferred from probe hybridization intensity patterns, so it is limited to sites that were designed in advance.</a:t>
            </a:r>
          </a:p>
          <a:p>
            <a:endParaRPr lang="en-US" altLang="zh-CN" dirty="0"/>
          </a:p>
          <a:p>
            <a:r>
              <a:rPr lang="en-US" altLang="zh-CN" dirty="0"/>
              <a:t>Because of this difference, WGS has two major advantages.</a:t>
            </a:r>
            <a:br>
              <a:rPr lang="en-US" altLang="zh-CN" dirty="0"/>
            </a:br>
            <a:r>
              <a:rPr lang="en-US" altLang="zh-CN" dirty="0"/>
              <a:t>First, it can detect variants beyond predefined probe loci, offering much broader genomic coverage.</a:t>
            </a:r>
          </a:p>
          <a:p>
            <a:br>
              <a:rPr lang="en-US" altLang="zh-CN" dirty="0"/>
            </a:br>
            <a:r>
              <a:rPr lang="en-US" altLang="zh-CN" dirty="0"/>
              <a:t>Second, especially for low-frequency variants, WGS provides more direct evidence from the reads themselves.</a:t>
            </a:r>
            <a:br>
              <a:rPr lang="en-US" altLang="zh-CN" dirty="0"/>
            </a:br>
            <a:r>
              <a:rPr lang="en-US" altLang="zh-CN" dirty="0"/>
              <a:t>In array data, rare-allele carriers are sparse, so cluster separation can be weaker, and genotype inference can become less robust.</a:t>
            </a:r>
          </a:p>
          <a:p>
            <a:endParaRPr lang="en-US" altLang="zh-CN" dirty="0"/>
          </a:p>
          <a:p>
            <a:r>
              <a:rPr lang="en-US" altLang="zh-CN" dirty="0"/>
              <a:t>Overall, WGS provides a much richer and more flexible view of genetic variation than array genotyping.</a:t>
            </a:r>
            <a:br>
              <a:rPr lang="en-US" altLang="zh-CN" dirty="0"/>
            </a:br>
            <a:r>
              <a:rPr lang="en-US" altLang="zh-CN" dirty="0"/>
              <a:t>But at the same time, this also means the analysis depends much more directly on sequencing quality and genotype-calling behavior, which leads to some of the practical challenges I’ll discuss next.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D72E7-4645-CF42-89D0-CCC25EC45A6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3163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 dirty="0"/>
              <a:t>As we just saw in the previous slide, unlike array genotyping, WGS infers genotypes directly from sequencing reads after mapping and variant calling.</a:t>
            </a:r>
            <a:br>
              <a:rPr lang="en-US" altLang="zh-CN" sz="1000" dirty="0"/>
            </a:br>
            <a:r>
              <a:rPr lang="en-US" altLang="zh-CN" sz="1000" dirty="0"/>
              <a:t>So, while WGS gives us broader coverage and more direct evidence, it also means that genotype inference depends much more directly on the sequencing data itself.</a:t>
            </a:r>
          </a:p>
          <a:p>
            <a:endParaRPr lang="en-US" altLang="zh-CN" sz="1000" dirty="0"/>
          </a:p>
          <a:p>
            <a:r>
              <a:rPr lang="en-US" altLang="zh-CN" sz="1000" dirty="0"/>
              <a:t>One of the most important consequences is that genotype inference in WGS is inherently depth-dependent.</a:t>
            </a:r>
          </a:p>
          <a:p>
            <a:endParaRPr lang="en-US" altLang="zh-CN" sz="1000" dirty="0"/>
          </a:p>
          <a:p>
            <a:r>
              <a:rPr lang="en-US" altLang="zh-CN" sz="1000" dirty="0"/>
              <a:t>On the right, the upper panels show this in read-count space.</a:t>
            </a:r>
            <a:br>
              <a:rPr lang="en-US" altLang="zh-CN" sz="1000" dirty="0"/>
            </a:br>
            <a:r>
              <a:rPr lang="en-US" altLang="zh-CN" sz="1000" dirty="0"/>
              <a:t>At lower sequencing depths, such as 15x, the genotype groups are much more diffuse and overlap more.</a:t>
            </a:r>
            <a:br>
              <a:rPr lang="en-US" altLang="zh-CN" sz="1000" dirty="0"/>
            </a:br>
            <a:r>
              <a:rPr lang="en-US" altLang="zh-CN" sz="1000" dirty="0"/>
              <a:t>This is because when the total number of reads is limited, sampling variance increases, making the separation between genotype states less clear.</a:t>
            </a:r>
            <a:br>
              <a:rPr lang="en-US" altLang="zh-CN" sz="1000" dirty="0"/>
            </a:br>
            <a:r>
              <a:rPr lang="en-US" altLang="zh-CN" sz="1000" dirty="0"/>
              <a:t>By contrast, at higher depth, such as 30x, the genotype groups become much tighter and more clearly separated.</a:t>
            </a:r>
          </a:p>
          <a:p>
            <a:endParaRPr lang="en-US" altLang="zh-CN" sz="1000" dirty="0"/>
          </a:p>
          <a:p>
            <a:r>
              <a:rPr lang="en-US" altLang="zh-CN" sz="1000" dirty="0"/>
              <a:t>The lower panels show the same effect in allele-fraction space.</a:t>
            </a:r>
            <a:br>
              <a:rPr lang="en-US" altLang="zh-CN" sz="1000" dirty="0"/>
            </a:br>
            <a:r>
              <a:rPr lang="en-US" altLang="zh-CN" sz="1000" dirty="0"/>
              <a:t>At lower depth, the allele-fraction distributions are broader, and the tails overlap more strongly, so the boundaries between genotype classes become ambiguous.</a:t>
            </a:r>
            <a:br>
              <a:rPr lang="en-US" altLang="zh-CN" sz="1000" dirty="0"/>
            </a:br>
            <a:r>
              <a:rPr lang="en-US" altLang="zh-CN" sz="1000" dirty="0"/>
              <a:t>At greater depth, the distributions become narrower, and the valleys between genotype states become more distinct, making genotype discrimination much more stable.</a:t>
            </a:r>
          </a:p>
          <a:p>
            <a:endParaRPr lang="en-US" altLang="zh-CN" sz="1000" dirty="0"/>
          </a:p>
          <a:p>
            <a:r>
              <a:rPr lang="en-US" altLang="zh-CN" sz="1000" dirty="0"/>
              <a:t>So, this is really the practical side of what I mentioned on the previous slide.</a:t>
            </a:r>
            <a:br>
              <a:rPr lang="en-US" altLang="zh-CN" sz="1000" dirty="0"/>
            </a:br>
            <a:r>
              <a:rPr lang="en-US" altLang="zh-CN" sz="1000" dirty="0"/>
              <a:t>Because WGS relies on read-level evidence, the confidence of genotype inference is not constant.</a:t>
            </a:r>
            <a:br>
              <a:rPr lang="en-US" altLang="zh-CN" sz="1000" dirty="0"/>
            </a:br>
            <a:r>
              <a:rPr lang="en-US" altLang="zh-CN" sz="1000" dirty="0"/>
              <a:t>It changes with sequencing depth.</a:t>
            </a:r>
          </a:p>
          <a:p>
            <a:endParaRPr lang="en-US" altLang="zh-CN" sz="1000" dirty="0"/>
          </a:p>
          <a:p>
            <a:r>
              <a:rPr lang="en-US" altLang="zh-CN" sz="1000" dirty="0"/>
              <a:t>And once sequencing depth varies across samples, genotype certainty, missingness, and error patterns can vary systematically as well.</a:t>
            </a:r>
            <a:br>
              <a:rPr lang="en-US" altLang="zh-CN" sz="1000" dirty="0"/>
            </a:br>
            <a:r>
              <a:rPr lang="en-US" altLang="zh-CN" sz="1000" dirty="0"/>
              <a:t>So, in real WGS-based GWAS, depth heterogeneity is not just a technical detail.</a:t>
            </a:r>
            <a:br>
              <a:rPr lang="en-US" altLang="zh-CN" sz="1000" dirty="0"/>
            </a:br>
            <a:r>
              <a:rPr lang="en-US" altLang="zh-CN" sz="1000" dirty="0"/>
              <a:t>It can become a real source of technical bias in downstream analysis.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9D72E7-4645-CF42-89D0-CCC25EC45A6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1015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92460-39E0-744D-9CDD-5CE4127A9F01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0379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386A2-D48E-264F-92B0-766AB86F7193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6892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92460-39E0-744D-9CDD-5CE4127A9F01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5343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16851-DE02-7059-A92A-8FF0E2375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8136A7-FBDF-6BF2-83D1-783EDFDB0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A6E683-0E64-7003-B1DD-7716186E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5CE40-B983-EC4A-88FD-930D70D8F0D8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E212DB-5C4C-6BDE-4B54-2C2B4D00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CE96C-C2E2-C8C6-2B1B-E965FBB4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127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2316C-03EA-B678-0E0E-616C22FC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289635-747E-87F5-FBC3-9816B8440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1FD49D-D2E0-D2E6-BF02-CA1EB00C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CAF9-B070-5145-8CBA-7B8EDD827278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EC9A8-FC10-B35A-82CB-023BB3B0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AB20B-C5F5-C92D-3DD1-7343F1CDC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162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46E2D-4FB4-75D8-CD8E-11DC4158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3A74BC-3370-D476-E851-77BBB8EA5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C82A23-F286-4F4A-E6AE-8C841BCD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7DD4-2020-E14C-89E2-76DA4898DD42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45BA4E-243B-11F7-31E0-4ECA3DBF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E4E1A6-412C-E920-81BC-8DA26211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753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39D78-A76B-6D1A-22B0-2A3C10CF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0F5152-D24B-1DAA-959A-F5E63AC32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4E09C2-B1F2-7DF7-E932-CBA450DB1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30AE9B-8D3A-1953-9862-F261958B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AD6F-84E5-9F42-82AF-D865C33842FA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35CC60-B450-E8C1-A9C1-6BDDC272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BECFA0-E7FE-2F3B-9746-2C0F6871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416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036C47-1FC7-F05C-8D3D-C321AB78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36BF7-3BB5-F7DD-7195-53631E032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C68CCC-6E60-2BF8-1EFE-5F263064E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E63A7C-6CC6-ED61-628E-2E5D089D9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7E787F-6E8B-B019-92D1-17B4F6873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D0F9B3-F685-21F8-1479-055C408A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4799-D3DD-584A-A72B-8B4DB9C7DD26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CE41E0-DAA0-CDF4-5814-B7CB28CD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0D4AAC-9A52-A072-879F-C898086C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570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7058F-EFEC-0D81-0944-29C421D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B78091-852B-A52A-0C6E-5701431B1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12DF-211F-B647-910D-E59B33165680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B6FCF6-8E9A-490C-756F-BB8C57F8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80C589-9C20-A5DF-F87F-0DBFCFFE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378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63CD78-3E32-2D1A-C032-8BB45056E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1945-DAE8-274B-8ED4-36A792A602D7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E67AD4-C9F2-88B6-F344-06C44890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83DC87-1F93-32B3-246D-16A1810E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70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55631-3FF1-58F0-F64E-C71F4E5D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1548CC-279D-97FB-2CA8-49D79FA76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F32A27-1F4D-EAE2-39AB-BE19F37E0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C35153-2712-FF72-CC9F-8EC53EB9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55B7B-59A3-4C43-B42B-05553601E4A2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149241-8CB4-DC10-976F-7AB6A479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D5A659-9E38-91F4-80BD-25BEBB702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711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0B5D7-D9B1-31D9-3A26-9B231395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BCB106-D05C-3A3A-CF68-2306B37D1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7446D7-C6F9-27EA-0232-2EDD17132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459590-95AC-7DD3-8828-7984A64B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5F9-2D14-A644-B6F2-2DA5600B9F2C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A0F0A7-334B-DF6D-FC2D-769EEE7E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730287-2231-7F66-48BD-CC6FBA9C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181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1F093-85BA-7844-8970-BB4ED0CA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33EE20-5046-EE7E-508B-681474FCA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352764-D151-E311-BA7F-EB0634EB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C90C-8BCA-D246-A3D1-B5837CAACF0E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FE95F-A199-B6D6-1047-84162870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B5ECF3-FD97-3D05-D1F8-755640A1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859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E1D314-AAE8-8BE4-6ABE-2174099C9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5A891F-603B-04A6-E3D4-BCE207641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AEAEDD-16F8-5203-116B-2698E966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4F1D-1B3C-8145-9068-E6CE9C03486C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D128C0-3FC6-B9E6-C455-A7B310A22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A818FF-4D79-5381-C695-CB86BF38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657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001EEB-1974-2D2E-5C69-46C8754A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85CB5F-F362-97FC-4FD6-73F233365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4D7BBF-7A3D-4E19-CBCA-BE68D4FB0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F0C55-2E83-4D49-A884-04483174714B}" type="datetime1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E5CB7-4E7A-53CE-B314-499FF9D9C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9745CA-09BD-E4F0-C38A-7B8671501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071AE-009C-AD4C-9607-F95584ED4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561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ZhaoTie-re/cteph_agp3k.v5/tree/clean_main_v5/tuning.concordance.v5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4334F07-4E96-E3AF-3A38-DC1DD4C3B5A0}"/>
              </a:ext>
            </a:extLst>
          </p:cNvPr>
          <p:cNvSpPr txBox="1"/>
          <p:nvPr/>
        </p:nvSpPr>
        <p:spPr>
          <a:xfrm>
            <a:off x="851646" y="1396657"/>
            <a:ext cx="110953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3600" b="1" dirty="0"/>
              <a:t>Cross-Platform Calibration of Whole-Genome Sequencing Genotype Quality Control Parameters Using Array-Based Genotypes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BE42B6-3468-59A0-F061-A0A22C0B45C8}"/>
              </a:ext>
            </a:extLst>
          </p:cNvPr>
          <p:cNvSpPr txBox="1"/>
          <p:nvPr/>
        </p:nvSpPr>
        <p:spPr>
          <a:xfrm>
            <a:off x="851646" y="3429000"/>
            <a:ext cx="963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dirty="0">
                <a:solidFill>
                  <a:srgbClr val="030303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A Multi-Objective Framework for Pareto-Optimal Calibration and Knee-Point Selection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5B155D0-8F17-BB6F-5CA8-0564F151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E710-8AE5-5E46-8463-05ED03E6BD16}" type="slidenum">
              <a:rPr kumimoji="1" lang="zh-CN" altLang="en-US" smtClean="0"/>
              <a:t>1</a:t>
            </a:fld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1448A4-56F4-7063-117B-3993EE25D744}"/>
              </a:ext>
            </a:extLst>
          </p:cNvPr>
          <p:cNvSpPr txBox="1"/>
          <p:nvPr/>
        </p:nvSpPr>
        <p:spPr>
          <a:xfrm>
            <a:off x="9825318" y="5432002"/>
            <a:ext cx="1441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/>
              <a:t>ZHAO TIE</a:t>
            </a:r>
          </a:p>
          <a:p>
            <a:pPr algn="ctr"/>
            <a:r>
              <a:rPr kumimoji="1" lang="en-US" altLang="zh-CN" b="1"/>
              <a:t>2026-09-16</a:t>
            </a:r>
            <a:endParaRPr kumimoji="1"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AD0899-EF75-AD46-6655-CADAB6B25CB9}"/>
              </a:ext>
            </a:extLst>
          </p:cNvPr>
          <p:cNvSpPr txBox="1"/>
          <p:nvPr/>
        </p:nvSpPr>
        <p:spPr>
          <a:xfrm>
            <a:off x="1497977" y="5570499"/>
            <a:ext cx="442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hlinkClick r:id="rId2"/>
              </a:rPr>
              <a:t>tuning.concordance</a:t>
            </a:r>
            <a:endParaRPr lang="zh-CN" altLang="en-US" b="1" dirty="0"/>
          </a:p>
        </p:txBody>
      </p:sp>
      <p:pic>
        <p:nvPicPr>
          <p:cNvPr id="4100" name="Picture 4" descr="Github Logo PNG Vectors Free Download">
            <a:extLst>
              <a:ext uri="{FF2B5EF4-FFF2-40B4-BE49-F238E27FC236}">
                <a16:creationId xmlns:a16="http://schemas.microsoft.com/office/drawing/2014/main" id="{8FF42317-F508-0D4F-A1D1-2DABEDC43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46" y="5432000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10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8812C7-03A4-07DD-58B9-D6FF0A62B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25" y="488728"/>
            <a:ext cx="11826241" cy="623274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C06C29-5EBA-AD12-473C-06E0CC5C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B2938-C5ED-FC41-892D-29A7589CB7EA}" type="slidenum">
              <a:rPr kumimoji="1" lang="zh-CN" altLang="en-US" smtClean="0"/>
              <a:t>2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1E23B7-FD3E-3BA7-BD8B-F5246764A25B}"/>
              </a:ext>
            </a:extLst>
          </p:cNvPr>
          <p:cNvSpPr txBox="1"/>
          <p:nvPr/>
        </p:nvSpPr>
        <p:spPr>
          <a:xfrm>
            <a:off x="0" y="0"/>
            <a:ext cx="1143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WGS Detects More Variants and Gives Direct Read-Level Evidence</a:t>
            </a:r>
          </a:p>
        </p:txBody>
      </p:sp>
    </p:spTree>
    <p:extLst>
      <p:ext uri="{BB962C8B-B14F-4D97-AF65-F5344CB8AC3E}">
        <p14:creationId xmlns:p14="http://schemas.microsoft.com/office/powerpoint/2010/main" val="774187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E366D4-9218-23D4-F687-C08387A7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B2938-C5ED-FC41-892D-29A7589CB7EA}" type="slidenum">
              <a:rPr kumimoji="1" lang="zh-CN" altLang="en-US" smtClean="0"/>
              <a:t>3</a:t>
            </a:fld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091C91-5902-39A1-52D4-1CD1D38452FF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000000"/>
                </a:solidFill>
              </a:rPr>
              <a:t>Genotype Resolution in WGS Depends on Sequencing Depth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Most cases are sequenced at 30x and all controls at 15x, so depth-driven QC differences can bias case/control comparisons.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842000" y="736600"/>
            <a:ext cx="5969000" cy="50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12121"/>
                </a:solidFill>
              </a:rPr>
              <a:t>Although WGS provides broader variant discovery and more direct read-level evidence than array genotyping, </a:t>
            </a:r>
            <a:r>
              <a:rPr lang="en-US" sz="1300" b="1" dirty="0">
                <a:solidFill>
                  <a:srgbClr val="212121"/>
                </a:solidFill>
              </a:rPr>
              <a:t>genotype inference in WGS is inherently depth-dependent</a:t>
            </a:r>
            <a:r>
              <a:rPr lang="en-US" sz="1300" dirty="0">
                <a:solidFill>
                  <a:srgbClr val="212121"/>
                </a:solidFill>
              </a:rPr>
              <a:t>.</a:t>
            </a:r>
          </a:p>
          <a:p>
            <a:pPr marL="0" indent="0" algn="l">
              <a:lnSpc>
                <a:spcPct val="105000"/>
              </a:lnSpc>
              <a:spcBef>
                <a:spcPts val="11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Upper panels: reference vs alternate read counts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Lower depth gives more </a:t>
            </a:r>
            <a:r>
              <a:rPr lang="en-US" sz="1300" b="1" dirty="0">
                <a:solidFill>
                  <a:srgbClr val="212121"/>
                </a:solidFill>
              </a:rPr>
              <a:t>diffuse, overlapping</a:t>
            </a:r>
            <a:r>
              <a:rPr lang="en-US" sz="1300" dirty="0">
                <a:solidFill>
                  <a:srgbClr val="212121"/>
                </a:solidFill>
              </a:rPr>
              <a:t> genotype clusters because of increased sampling variance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Higher depth gives more </a:t>
            </a:r>
            <a:r>
              <a:rPr lang="en-US" sz="1300" b="1" dirty="0">
                <a:solidFill>
                  <a:srgbClr val="212121"/>
                </a:solidFill>
              </a:rPr>
              <a:t>compact, distinctly separated</a:t>
            </a:r>
            <a:r>
              <a:rPr lang="en-US" sz="1300" dirty="0">
                <a:solidFill>
                  <a:srgbClr val="212121"/>
                </a:solidFill>
              </a:rPr>
              <a:t> genotype groups</a:t>
            </a:r>
          </a:p>
          <a:p>
            <a:pPr marL="0" indent="0" algn="l">
              <a:lnSpc>
                <a:spcPct val="105000"/>
              </a:lnSpc>
              <a:spcBef>
                <a:spcPts val="11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Lower panels: allele-fraction space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Lower depth broadens the distributions and increases overlap between genotype classes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Higher depth narrows the distributions and produces clearer valleys between states, improving genotype discrimination</a:t>
            </a:r>
          </a:p>
          <a:p>
            <a:pPr marL="0" indent="0" algn="l">
              <a:lnSpc>
                <a:spcPct val="105000"/>
              </a:lnSpc>
              <a:spcBef>
                <a:spcPts val="11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Implication for our data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ability to resolve genotypes relies directly on depth; when depth varies across samples, genotype certainty also varies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This can cause systematic differences in </a:t>
            </a:r>
            <a:r>
              <a:rPr lang="en-US" sz="1300" b="1" dirty="0">
                <a:solidFill>
                  <a:srgbClr val="212121"/>
                </a:solidFill>
              </a:rPr>
              <a:t>missingness, calling uncertainty and error patterns</a:t>
            </a:r>
            <a:r>
              <a:rPr lang="en-US" sz="1300" dirty="0">
                <a:solidFill>
                  <a:srgbClr val="212121"/>
                </a:solidFill>
              </a:rPr>
              <a:t>, leading to technical noise, imbalance and bias downstream, which matters in our mixed 15x/30x cohort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66B530-C893-7D42-C334-1623EAE26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654050"/>
            <a:ext cx="51054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0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88C3872-4EAC-D4BC-21E5-A81EA2908D30}"/>
              </a:ext>
            </a:extLst>
          </p:cNvPr>
          <p:cNvSpPr txBox="1"/>
          <p:nvPr/>
        </p:nvSpPr>
        <p:spPr>
          <a:xfrm>
            <a:off x="0" y="-45691"/>
            <a:ext cx="2595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u="sng" dirty="0"/>
              <a:t>Study Population</a:t>
            </a:r>
            <a:endParaRPr lang="zh-CN" altLang="en-US" sz="2400" b="1" u="sng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283D960-3101-9C50-EBEE-14E7C48D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4</a:t>
            </a:fld>
            <a:endParaRPr kumimoji="1" lang="zh-CN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F3A1AA3-8B99-3FDF-BD55-BE0B8F4B631F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5915599"/>
          <a:ext cx="6242107" cy="833836"/>
        </p:xfrm>
        <a:graphic>
          <a:graphicData uri="http://schemas.openxmlformats.org/drawingml/2006/table">
            <a:tbl>
              <a:tblPr/>
              <a:tblGrid>
                <a:gridCol w="6242107">
                  <a:extLst>
                    <a:ext uri="{9D8B030D-6E8A-4147-A177-3AD203B41FA5}">
                      <a16:colId xmlns:a16="http://schemas.microsoft.com/office/drawing/2014/main" val="74022627"/>
                    </a:ext>
                  </a:extLst>
                </a:gridCol>
              </a:tblGrid>
              <a:tr h="2084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a: Not recorded for 68 CTEPH and 66 AGP3K samples.</a:t>
                      </a:r>
                    </a:p>
                  </a:txBody>
                  <a:tcPr marL="8686" marR="8686" marT="8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22966"/>
                  </a:ext>
                </a:extLst>
              </a:tr>
              <a:tr h="2084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b: DVT, deep vein thrombosis; Unknown, not recorded.</a:t>
                      </a:r>
                    </a:p>
                  </a:txBody>
                  <a:tcPr marL="8686" marR="8686" marT="8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270559"/>
                  </a:ext>
                </a:extLst>
              </a:tr>
              <a:tr h="2084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c: mPAP, mean pulmonary arterial pressure; highest value recorded per patient, available for all CTEPH samples.</a:t>
                      </a:r>
                    </a:p>
                  </a:txBody>
                  <a:tcPr marL="8686" marR="8686" marT="8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016840"/>
                  </a:ext>
                </a:extLst>
              </a:tr>
              <a:tr h="2084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d: Two samples are genotyped on both Illumina ASA24v1 and JSA24v1.</a:t>
                      </a:r>
                    </a:p>
                  </a:txBody>
                  <a:tcPr marL="8686" marR="8686" marT="8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98673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FAE9758-9A3A-A8DD-A308-A8D66069F170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431898"/>
          <a:ext cx="11401424" cy="5349162"/>
        </p:xfrm>
        <a:graphic>
          <a:graphicData uri="http://schemas.openxmlformats.org/drawingml/2006/table">
            <a:tbl>
              <a:tblPr/>
              <a:tblGrid>
                <a:gridCol w="1033730">
                  <a:extLst>
                    <a:ext uri="{9D8B030D-6E8A-4147-A177-3AD203B41FA5}">
                      <a16:colId xmlns:a16="http://schemas.microsoft.com/office/drawing/2014/main" val="2363691820"/>
                    </a:ext>
                  </a:extLst>
                </a:gridCol>
                <a:gridCol w="1229911">
                  <a:extLst>
                    <a:ext uri="{9D8B030D-6E8A-4147-A177-3AD203B41FA5}">
                      <a16:colId xmlns:a16="http://schemas.microsoft.com/office/drawing/2014/main" val="3748324740"/>
                    </a:ext>
                  </a:extLst>
                </a:gridCol>
                <a:gridCol w="1211690">
                  <a:extLst>
                    <a:ext uri="{9D8B030D-6E8A-4147-A177-3AD203B41FA5}">
                      <a16:colId xmlns:a16="http://schemas.microsoft.com/office/drawing/2014/main" val="3755889170"/>
                    </a:ext>
                  </a:extLst>
                </a:gridCol>
                <a:gridCol w="3944825">
                  <a:extLst>
                    <a:ext uri="{9D8B030D-6E8A-4147-A177-3AD203B41FA5}">
                      <a16:colId xmlns:a16="http://schemas.microsoft.com/office/drawing/2014/main" val="801274006"/>
                    </a:ext>
                  </a:extLst>
                </a:gridCol>
                <a:gridCol w="3981268">
                  <a:extLst>
                    <a:ext uri="{9D8B030D-6E8A-4147-A177-3AD203B41FA5}">
                      <a16:colId xmlns:a16="http://schemas.microsoft.com/office/drawing/2014/main" val="2661431959"/>
                    </a:ext>
                  </a:extLst>
                </a:gridCol>
              </a:tblGrid>
              <a:tr h="172177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Case (CTEPH)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Ctrl (AGP3K)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768444"/>
                  </a:ext>
                </a:extLst>
              </a:tr>
              <a:tr h="297199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Sample Information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Sample Size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6C9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457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3,135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361625"/>
                  </a:ext>
                </a:extLst>
              </a:tr>
              <a:tr h="2833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Age at DNA Collection</a:t>
                      </a: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ᵃ</a:t>
                      </a:r>
                      <a:endParaRPr 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9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64.75 ± 12.16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59.90 ± 14.07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730848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Sex (Male/Female)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9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100/357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1,243/1,892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864809"/>
                  </a:ext>
                </a:extLst>
              </a:tr>
              <a:tr h="9058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Collection Facility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Okayama Medical Center (n=451)</a:t>
                      </a:r>
                      <a:b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</a:b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Hokkaido University Hospital (n=2)</a:t>
                      </a:r>
                      <a:b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</a:b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Osaka Metropolitan University Hospital (n=3)</a:t>
                      </a:r>
                      <a:b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</a:b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Yamaguchi University Hospital (n=1)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92120"/>
                  </a:ext>
                </a:extLst>
              </a:tr>
              <a:tr h="29571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Clinical Information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DVT Presence (Yes/No/Unknown)ᵇ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6C9E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Earlier study: 103/0/138 (n=241)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64977"/>
                  </a:ext>
                </a:extLst>
              </a:tr>
              <a:tr h="2934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RADDAR-J: 64/151/1 (n=216)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62057"/>
                  </a:ext>
                </a:extLst>
              </a:tr>
              <a:tr h="3515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Max mPAP (mmHg)ᶜ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42.14 ± 11.20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058960"/>
                  </a:ext>
                </a:extLst>
              </a:tr>
              <a:tr h="334291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Genotyping Information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WGS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Sample Size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457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3,135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414494"/>
                  </a:ext>
                </a:extLst>
              </a:tr>
              <a:tr h="8831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Platform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DNBSeq-T7 30x (n=331)</a:t>
                      </a:r>
                      <a:b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</a:b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NovaSeq 30x (n=52)</a:t>
                      </a:r>
                      <a:b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</a:b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DNBseq-G400RS 15x (n=31)</a:t>
                      </a:r>
                      <a:b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</a:b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DNBseq-G400RS 30x (n=43)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HiSeqX 15x (n=3,135)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829426"/>
                  </a:ext>
                </a:extLst>
              </a:tr>
              <a:tr h="3357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Operator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Macrogen Japan (n=383)</a:t>
                      </a:r>
                      <a:b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</a:b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CGM (n=74)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Macrogen Korea (n=3,135)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0399"/>
                  </a:ext>
                </a:extLst>
              </a:tr>
              <a:tr h="2991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Array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Sample Size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321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1,442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99410"/>
                  </a:ext>
                </a:extLst>
              </a:tr>
              <a:tr h="58497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Platform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Illumina ASA24v1 (n=321)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Illumina ASA24v1 (n=7)</a:t>
                      </a:r>
                      <a:b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</a:b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Illumina JSA24v1 (n=1,433)</a:t>
                      </a:r>
                      <a:b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</a:b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Illumina ASA24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v</a:t>
                      </a:r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 &amp; JSA24v1 (n=2)ᵈ</a:t>
                      </a:r>
                    </a:p>
                  </a:txBody>
                  <a:tcPr marL="6457" marR="6457" marT="645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1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385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F26FE5-7105-D42C-E5A1-92237DDB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F305C1-B7EB-B935-3319-3FD1A30077D7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000000"/>
                </a:solidFill>
              </a:rPr>
              <a:t>Three Call-Level Parameters: DP, GQ and AF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95DAF7F-565C-E3D9-2000-6B520133D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584200"/>
            <a:ext cx="2667000" cy="5308600"/>
          </a:xfrm>
          <a:prstGeom prst="rect">
            <a:avLst/>
          </a:prstGeom>
        </p:spPr>
      </p:pic>
      <p:sp>
        <p:nvSpPr>
          <p:cNvPr id="202" name="Text 202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Each parameter removes a different kind of unreliable call, so we tune DP, GQ and AF together.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508000" y="609600"/>
            <a:ext cx="81280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12121"/>
                </a:solidFill>
              </a:rPr>
              <a:t>To calibrate WGS genotype calls, we focused on three core call-level parameters: depth (DP), genotype quality (GQ) and allele fraction (AF).</a:t>
            </a:r>
          </a:p>
        </p:txBody>
      </p:sp>
      <p:cxnSp>
        <p:nvCxnSpPr>
          <p:cNvPr id="211" name="Rule 211"/>
          <p:cNvCxnSpPr/>
          <p:nvPr/>
        </p:nvCxnSpPr>
        <p:spPr>
          <a:xfrm>
            <a:off x="508000" y="1168400"/>
            <a:ext cx="2540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1" name="Text 201"/>
          <p:cNvSpPr txBox="1"/>
          <p:nvPr/>
        </p:nvSpPr>
        <p:spPr>
          <a:xfrm>
            <a:off x="508000" y="1270000"/>
            <a:ext cx="2540000" cy="457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Sequencing depth (DP)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212121"/>
                </a:solidFill>
              </a:rPr>
              <a:t>Total reads covering a position: the sum of reference- and alternate-supporting allele depths.</a:t>
            </a:r>
          </a:p>
          <a:p>
            <a:pPr marL="171450" indent="-17145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Higher DP usually gives more reliable genotypes</a:t>
            </a:r>
          </a:p>
          <a:p>
            <a:pPr marL="171450" indent="-17145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Low DP increases random sampling error, which can cause unstable calls or data gaps</a:t>
            </a:r>
          </a:p>
        </p:txBody>
      </p:sp>
      <p:cxnSp>
        <p:nvCxnSpPr>
          <p:cNvPr id="212" name="Rule 212"/>
          <p:cNvCxnSpPr/>
          <p:nvPr/>
        </p:nvCxnSpPr>
        <p:spPr>
          <a:xfrm>
            <a:off x="3302000" y="1168400"/>
            <a:ext cx="2540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" name="Text 202"/>
          <p:cNvSpPr txBox="1"/>
          <p:nvPr/>
        </p:nvSpPr>
        <p:spPr>
          <a:xfrm>
            <a:off x="3302000" y="1270000"/>
            <a:ext cx="2540000" cy="457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Genotype quality (GQ)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212121"/>
                </a:solidFill>
              </a:rPr>
              <a:t>Confidence of the assigned genotype, from the PL (Phred-scaled likelihood) difference between the most and second-most likely genotypes.</a:t>
            </a:r>
          </a:p>
          <a:p>
            <a:pPr marL="171450" indent="-17145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Higher GQ means lower error probability</a:t>
            </a:r>
          </a:p>
          <a:p>
            <a:pPr marL="342900" indent="-171450" algn="l">
              <a:lnSpc>
                <a:spcPct val="105000"/>
              </a:lnSpc>
              <a:spcBef>
                <a:spcPts val="200"/>
              </a:spcBef>
              <a:buFont typeface="Arial"/>
              <a:buChar char="–"/>
            </a:pPr>
            <a:r>
              <a:rPr lang="en-US" sz="1300" dirty="0">
                <a:solidFill>
                  <a:srgbClr val="212121"/>
                </a:solidFill>
              </a:rPr>
              <a:t>GQ 10 / 20 / 30 / 40 ≈ 90% / 99% / 99.9% / 99.99% call accuracy</a:t>
            </a:r>
          </a:p>
          <a:p>
            <a:pPr marL="171450" indent="-17145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A practical threshold for filtering uncertain calls</a:t>
            </a:r>
          </a:p>
        </p:txBody>
      </p:sp>
      <p:cxnSp>
        <p:nvCxnSpPr>
          <p:cNvPr id="213" name="Rule 213"/>
          <p:cNvCxnSpPr/>
          <p:nvPr/>
        </p:nvCxnSpPr>
        <p:spPr>
          <a:xfrm>
            <a:off x="6096000" y="1168400"/>
            <a:ext cx="2540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3" name="Text 203"/>
          <p:cNvSpPr txBox="1"/>
          <p:nvPr/>
        </p:nvSpPr>
        <p:spPr>
          <a:xfrm>
            <a:off x="6096000" y="1270000"/>
            <a:ext cx="2540000" cy="457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Allele fraction (AF)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212121"/>
                </a:solidFill>
              </a:rPr>
              <a:t>Proportion of reads supporting the alternate allele. A true heterozygote should sit near 0.5, but real data deviate because of:</a:t>
            </a:r>
          </a:p>
          <a:p>
            <a:pPr marL="342900" indent="-171450" algn="l">
              <a:lnSpc>
                <a:spcPct val="105000"/>
              </a:lnSpc>
              <a:spcBef>
                <a:spcPts val="200"/>
              </a:spcBef>
              <a:buFont typeface="Arial"/>
              <a:buChar char="–"/>
            </a:pPr>
            <a:r>
              <a:rPr lang="en-US" sz="1300" dirty="0">
                <a:solidFill>
                  <a:srgbClr val="212121"/>
                </a:solidFill>
              </a:rPr>
              <a:t>Allelic imbalance during sequencing</a:t>
            </a:r>
          </a:p>
          <a:p>
            <a:pPr marL="342900" indent="-171450" algn="l">
              <a:lnSpc>
                <a:spcPct val="105000"/>
              </a:lnSpc>
              <a:spcBef>
                <a:spcPts val="200"/>
              </a:spcBef>
              <a:buFont typeface="Arial"/>
              <a:buChar char="–"/>
            </a:pPr>
            <a:r>
              <a:rPr lang="en-US" sz="1300" dirty="0">
                <a:solidFill>
                  <a:srgbClr val="212121"/>
                </a:solidFill>
              </a:rPr>
              <a:t>Reference bias in read alignment</a:t>
            </a:r>
          </a:p>
          <a:p>
            <a:pPr marL="342900" indent="-171450" algn="l">
              <a:lnSpc>
                <a:spcPct val="105000"/>
              </a:lnSpc>
              <a:spcBef>
                <a:spcPts val="200"/>
              </a:spcBef>
              <a:buFont typeface="Arial"/>
              <a:buChar char="–"/>
            </a:pPr>
            <a:r>
              <a:rPr lang="en-US" sz="1300" dirty="0">
                <a:solidFill>
                  <a:srgbClr val="212121"/>
                </a:solidFill>
              </a:rPr>
              <a:t>Allele-specific mapping quality differences</a:t>
            </a:r>
          </a:p>
          <a:p>
            <a:pPr marL="171450" indent="-17145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AF far outside the heterozygous range more likely reflects noise; bounding AF reduces false heterozygous calls</a:t>
            </a:r>
          </a:p>
        </p:txBody>
      </p:sp>
    </p:spTree>
    <p:extLst>
      <p:ext uri="{BB962C8B-B14F-4D97-AF65-F5344CB8AC3E}">
        <p14:creationId xmlns:p14="http://schemas.microsoft.com/office/powerpoint/2010/main" val="11811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FBF1DC-35D9-C595-5543-C8602C669603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400" b="1" u="sng" dirty="0"/>
              <a:t>Array QC Keeps 1,750 Samples and 409,088 Variants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A20F6BF-952E-C883-8564-B468AB5C541E}"/>
              </a:ext>
            </a:extLst>
          </p:cNvPr>
          <p:cNvGraphicFramePr>
            <a:graphicFrameLocks noGrp="1"/>
          </p:cNvGraphicFramePr>
          <p:nvPr/>
        </p:nvGraphicFramePr>
        <p:xfrm>
          <a:off x="463142" y="461665"/>
          <a:ext cx="11193322" cy="5234958"/>
        </p:xfrm>
        <a:graphic>
          <a:graphicData uri="http://schemas.openxmlformats.org/drawingml/2006/table">
            <a:tbl>
              <a:tblPr/>
              <a:tblGrid>
                <a:gridCol w="1314383">
                  <a:extLst>
                    <a:ext uri="{9D8B030D-6E8A-4147-A177-3AD203B41FA5}">
                      <a16:colId xmlns:a16="http://schemas.microsoft.com/office/drawing/2014/main" val="3307049356"/>
                    </a:ext>
                  </a:extLst>
                </a:gridCol>
                <a:gridCol w="3315769">
                  <a:extLst>
                    <a:ext uri="{9D8B030D-6E8A-4147-A177-3AD203B41FA5}">
                      <a16:colId xmlns:a16="http://schemas.microsoft.com/office/drawing/2014/main" val="1900675555"/>
                    </a:ext>
                  </a:extLst>
                </a:gridCol>
                <a:gridCol w="1697741">
                  <a:extLst>
                    <a:ext uri="{9D8B030D-6E8A-4147-A177-3AD203B41FA5}">
                      <a16:colId xmlns:a16="http://schemas.microsoft.com/office/drawing/2014/main" val="3418918556"/>
                    </a:ext>
                  </a:extLst>
                </a:gridCol>
                <a:gridCol w="489982">
                  <a:extLst>
                    <a:ext uri="{9D8B030D-6E8A-4147-A177-3AD203B41FA5}">
                      <a16:colId xmlns:a16="http://schemas.microsoft.com/office/drawing/2014/main" val="3028376057"/>
                    </a:ext>
                  </a:extLst>
                </a:gridCol>
                <a:gridCol w="410170">
                  <a:extLst>
                    <a:ext uri="{9D8B030D-6E8A-4147-A177-3AD203B41FA5}">
                      <a16:colId xmlns:a16="http://schemas.microsoft.com/office/drawing/2014/main" val="2596102156"/>
                    </a:ext>
                  </a:extLst>
                </a:gridCol>
                <a:gridCol w="900152">
                  <a:extLst>
                    <a:ext uri="{9D8B030D-6E8A-4147-A177-3AD203B41FA5}">
                      <a16:colId xmlns:a16="http://schemas.microsoft.com/office/drawing/2014/main" val="24171630"/>
                    </a:ext>
                  </a:extLst>
                </a:gridCol>
                <a:gridCol w="900152">
                  <a:extLst>
                    <a:ext uri="{9D8B030D-6E8A-4147-A177-3AD203B41FA5}">
                      <a16:colId xmlns:a16="http://schemas.microsoft.com/office/drawing/2014/main" val="265879383"/>
                    </a:ext>
                  </a:extLst>
                </a:gridCol>
                <a:gridCol w="314688">
                  <a:extLst>
                    <a:ext uri="{9D8B030D-6E8A-4147-A177-3AD203B41FA5}">
                      <a16:colId xmlns:a16="http://schemas.microsoft.com/office/drawing/2014/main" val="2131598800"/>
                    </a:ext>
                  </a:extLst>
                </a:gridCol>
                <a:gridCol w="1046980">
                  <a:extLst>
                    <a:ext uri="{9D8B030D-6E8A-4147-A177-3AD203B41FA5}">
                      <a16:colId xmlns:a16="http://schemas.microsoft.com/office/drawing/2014/main" val="1477170597"/>
                    </a:ext>
                  </a:extLst>
                </a:gridCol>
                <a:gridCol w="803305">
                  <a:extLst>
                    <a:ext uri="{9D8B030D-6E8A-4147-A177-3AD203B41FA5}">
                      <a16:colId xmlns:a16="http://schemas.microsoft.com/office/drawing/2014/main" val="4265523899"/>
                    </a:ext>
                  </a:extLst>
                </a:gridCol>
              </a:tblGrid>
              <a:tr h="15114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Phase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F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Exclusion Criteria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F9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Retained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F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Excluded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7850"/>
                  </a:ext>
                </a:extLst>
              </a:tr>
              <a:tr h="151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（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Case/Ctrl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247073"/>
                  </a:ext>
                </a:extLst>
              </a:tr>
              <a:tr h="151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016654"/>
                  </a:ext>
                </a:extLst>
              </a:tr>
              <a:tr h="151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illuminaASA24v1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illuminaJSA24v1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illuminaJSA24v1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547163"/>
                  </a:ext>
                </a:extLst>
              </a:tr>
              <a:tr h="4068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330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(CTEPH/AGP3K=321/9)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1,435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(CTEPH/AGP3K=0/1,435)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1,435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(CTEPH/AGP3K=0/1,435)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540823"/>
                  </a:ext>
                </a:extLst>
              </a:tr>
              <a:tr h="151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633,357 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691,920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691,920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064922"/>
                  </a:ext>
                </a:extLst>
              </a:tr>
              <a:tr h="151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8436"/>
                  </a:ext>
                </a:extLst>
              </a:tr>
              <a:tr h="151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illuminaASA24v1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illuminaJSA24v1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illuminaJSA24v1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567989"/>
                  </a:ext>
                </a:extLst>
              </a:tr>
              <a:tr h="40689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 QC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SMISS ≥ 0.01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316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(CTEPH/AGP3K=309/7)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1,434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(CTEPH/AGP3K=0/1,434)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1,434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(CTEPH/AGP3K=0/1,434)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539874"/>
                  </a:ext>
                </a:extLst>
              </a:tr>
              <a:tr h="2732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633,357 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691,920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691,920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 (12/3)</a:t>
                      </a:r>
                      <a:r>
                        <a:rPr lang="en-US" sz="1200" b="1" i="0" u="none" strike="noStrike" baseline="3000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198225"/>
                  </a:ext>
                </a:extLst>
              </a:tr>
              <a:tr h="1431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54355"/>
                  </a:ext>
                </a:extLst>
              </a:tr>
              <a:tr h="151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Merged</a:t>
                      </a: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122517"/>
                  </a:ext>
                </a:extLst>
              </a:tr>
              <a:tr h="29433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Merge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Non-shared Variants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1,750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(CTEPH/AGP3K=309/1,441)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664083"/>
                  </a:ext>
                </a:extLst>
              </a:tr>
              <a:tr h="151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578,970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716953"/>
                  </a:ext>
                </a:extLst>
              </a:tr>
              <a:tr h="1431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22772"/>
                  </a:ext>
                </a:extLst>
              </a:tr>
              <a:tr h="151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Merged</a:t>
                      </a: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334721"/>
                  </a:ext>
                </a:extLst>
              </a:tr>
              <a:tr h="294332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 QC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Multiallelic Variants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1,750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(CTEPH/AGP3K=309/1,441)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966" marR="5966" marT="596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746546"/>
                  </a:ext>
                </a:extLst>
              </a:tr>
              <a:tr h="151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574,240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4,730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365922"/>
                  </a:ext>
                </a:extLst>
              </a:tr>
              <a:tr h="151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VMISS ≥ 0.01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565,224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9,016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73655"/>
                  </a:ext>
                </a:extLst>
              </a:tr>
              <a:tr h="151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Non-autosomal Variants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535,182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30,042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554351"/>
                  </a:ext>
                </a:extLst>
              </a:tr>
              <a:tr h="1511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MAF &lt; 0.01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409,321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125,861 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060201"/>
                  </a:ext>
                </a:extLst>
              </a:tr>
              <a:tr h="2000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Ctrl HWE P &lt; 1e-06 | Case HWE P &lt; 1e-10 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409,088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966" marR="5966" marT="596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233 </a:t>
                      </a:r>
                    </a:p>
                  </a:txBody>
                  <a:tcPr marL="5966" marR="5966" marT="596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55234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517A099-1D14-53E6-E41F-3C0311BA6558}"/>
              </a:ext>
            </a:extLst>
          </p:cNvPr>
          <p:cNvGraphicFramePr>
            <a:graphicFrameLocks noGrp="1"/>
          </p:cNvGraphicFramePr>
          <p:nvPr/>
        </p:nvGraphicFramePr>
        <p:xfrm>
          <a:off x="463142" y="5767289"/>
          <a:ext cx="10821333" cy="954186"/>
        </p:xfrm>
        <a:graphic>
          <a:graphicData uri="http://schemas.openxmlformats.org/drawingml/2006/table">
            <a:tbl>
              <a:tblPr/>
              <a:tblGrid>
                <a:gridCol w="10821333">
                  <a:extLst>
                    <a:ext uri="{9D8B030D-6E8A-4147-A177-3AD203B41FA5}">
                      <a16:colId xmlns:a16="http://schemas.microsoft.com/office/drawing/2014/main" val="2067582025"/>
                    </a:ext>
                  </a:extLst>
                </a:gridCol>
              </a:tblGrid>
              <a:tr h="158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a: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Two samples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/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/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are duplicated; since SMISS, only the samples in illuminaJSA24v1 are retained.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631" marR="6631" marT="66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076899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631" marR="6631" marT="66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758703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SMISS: Sample Missing Rate</a:t>
                      </a:r>
                    </a:p>
                  </a:txBody>
                  <a:tcPr marL="6631" marR="6631" marT="66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9266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VMISS: Variant Missing Rate</a:t>
                      </a:r>
                    </a:p>
                  </a:txBody>
                  <a:tcPr marL="6631" marR="6631" marT="66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248072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MAF: Minor Allele Frequency</a:t>
                      </a:r>
                    </a:p>
                  </a:txBody>
                  <a:tcPr marL="6631" marR="6631" marT="66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251271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HWE P: P-value of Hardy-Weinberg Equilibrium</a:t>
                      </a:r>
                    </a:p>
                  </a:txBody>
                  <a:tcPr marL="6631" marR="6631" marT="66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724438"/>
                  </a:ext>
                </a:extLst>
              </a:tr>
            </a:tbl>
          </a:graphicData>
        </a:graphic>
      </p:graphicFrame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77EBF4-9C24-79B5-7193-22B485DA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610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B3A9077-2900-0DDA-DDFD-2AD281E94B38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ToMMo Frequency Filter Keeps 385,609 High-Confidence Variants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5C09EB1-DA21-C10E-240E-E7C27F52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048000"/>
            <a:ext cx="5295900" cy="36957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14AE64E-F2C1-64DB-8E63-9128522AB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144" y="461665"/>
            <a:ext cx="6086035" cy="6143517"/>
          </a:xfrm>
          <a:prstGeom prst="rect">
            <a:avLst/>
          </a:prstGeom>
        </p:spPr>
      </p:pic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DC6158FD-EFFF-DF2E-998F-750BC5DC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7</a:t>
            </a:fld>
            <a:endParaRPr kumimoji="1" lang="zh-CN" altLang="en-US"/>
          </a:p>
        </p:txBody>
      </p:sp>
      <p:sp>
        <p:nvSpPr>
          <p:cNvPr id="201" name="Text 201"/>
          <p:cNvSpPr txBox="1"/>
          <p:nvPr/>
        </p:nvSpPr>
        <p:spPr>
          <a:xfrm>
            <a:off x="254000" y="660400"/>
            <a:ext cx="5588000" cy="228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Why filter against ToMMo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Array QC removes genotyping noise; ToMMo, a larger Japanese reference, flags low-confidence and population-specific variants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Keep variants whose control AAF − ToMMo AAF falls in the central </a:t>
            </a:r>
            <a:r>
              <a:rPr lang="en-US" sz="1400" b="1" dirty="0">
                <a:solidFill>
                  <a:srgbClr val="212121"/>
                </a:solidFill>
              </a:rPr>
              <a:t>95%</a:t>
            </a:r>
            <a:r>
              <a:rPr lang="en-US" sz="1400" dirty="0">
                <a:solidFill>
                  <a:srgbClr val="212121"/>
                </a:solidFill>
              </a:rPr>
              <a:t> range (−0.023 to 0.023)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Result: </a:t>
            </a:r>
            <a:r>
              <a:rPr lang="en-US" sz="1400" b="1" dirty="0">
                <a:solidFill>
                  <a:srgbClr val="212121"/>
                </a:solidFill>
              </a:rPr>
              <a:t>385,609</a:t>
            </a:r>
            <a:r>
              <a:rPr lang="en-US" sz="1400" dirty="0">
                <a:solidFill>
                  <a:srgbClr val="212121"/>
                </a:solidFill>
              </a:rPr>
              <a:t> of 405,904 valid variants kept as high-confidence anchors</a:t>
            </a:r>
          </a:p>
        </p:txBody>
      </p:sp>
    </p:spTree>
    <p:extLst>
      <p:ext uri="{BB962C8B-B14F-4D97-AF65-F5344CB8AC3E}">
        <p14:creationId xmlns:p14="http://schemas.microsoft.com/office/powerpoint/2010/main" val="1069728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5FEBD5F-6B84-A8B9-FF27-F6214F40AA9A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382,521 Variants Shared by Array and WGS Form the Test Set </a:t>
            </a:r>
            <a:endParaRPr kumimoji="1" lang="zh-CN" altLang="en-US" sz="2400" b="1" u="sng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5276DEB-7393-4C1D-7858-E35CC4DAE4CF}"/>
              </a:ext>
            </a:extLst>
          </p:cNvPr>
          <p:cNvGraphicFramePr>
            <a:graphicFrameLocks noGrp="1"/>
          </p:cNvGraphicFramePr>
          <p:nvPr/>
        </p:nvGraphicFramePr>
        <p:xfrm>
          <a:off x="621867" y="1627835"/>
          <a:ext cx="2202584" cy="823770"/>
        </p:xfrm>
        <a:graphic>
          <a:graphicData uri="http://schemas.openxmlformats.org/drawingml/2006/table">
            <a:tbl>
              <a:tblPr/>
              <a:tblGrid>
                <a:gridCol w="2202584">
                  <a:extLst>
                    <a:ext uri="{9D8B030D-6E8A-4147-A177-3AD203B41FA5}">
                      <a16:colId xmlns:a16="http://schemas.microsoft.com/office/drawing/2014/main" val="1973616824"/>
                    </a:ext>
                  </a:extLst>
                </a:gridCol>
              </a:tblGrid>
              <a:tr h="2745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True Genotype (Array) </a:t>
                      </a:r>
                    </a:p>
                  </a:txBody>
                  <a:tcPr marL="6752" marR="6752" marT="67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50147"/>
                  </a:ext>
                </a:extLst>
              </a:tr>
              <a:tr h="27459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1,750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52" marR="6752" marT="67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518563"/>
                  </a:ext>
                </a:extLst>
              </a:tr>
              <a:tr h="2745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</a:t>
                      </a:r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385,609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2" marR="6752" marT="67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54122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8F649D5-1CF1-7A93-EEEE-967B4B1C3F16}"/>
              </a:ext>
            </a:extLst>
          </p:cNvPr>
          <p:cNvGraphicFramePr>
            <a:graphicFrameLocks noGrp="1"/>
          </p:cNvGraphicFramePr>
          <p:nvPr/>
        </p:nvGraphicFramePr>
        <p:xfrm>
          <a:off x="5557551" y="1629001"/>
          <a:ext cx="2202584" cy="727920"/>
        </p:xfrm>
        <a:graphic>
          <a:graphicData uri="http://schemas.openxmlformats.org/drawingml/2006/table">
            <a:tbl>
              <a:tblPr/>
              <a:tblGrid>
                <a:gridCol w="2202584">
                  <a:extLst>
                    <a:ext uri="{9D8B030D-6E8A-4147-A177-3AD203B41FA5}">
                      <a16:colId xmlns:a16="http://schemas.microsoft.com/office/drawing/2014/main" val="1973616824"/>
                    </a:ext>
                  </a:extLst>
                </a:gridCol>
              </a:tblGrid>
              <a:tr h="242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Call Genotype (WGS) </a:t>
                      </a:r>
                    </a:p>
                  </a:txBody>
                  <a:tcPr marL="6752" marR="6752" marT="67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50147"/>
                  </a:ext>
                </a:extLst>
              </a:tr>
              <a:tr h="24264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1,750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52" marR="6752" marT="67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518563"/>
                  </a:ext>
                </a:extLst>
              </a:tr>
              <a:tr h="2426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</a:t>
                      </a:r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41,179,812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2" marR="6752" marT="67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54122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2DF5525-2BE8-BC7B-E17A-6DEE0A9084D3}"/>
              </a:ext>
            </a:extLst>
          </p:cNvPr>
          <p:cNvSpPr txBox="1"/>
          <p:nvPr/>
        </p:nvSpPr>
        <p:spPr>
          <a:xfrm>
            <a:off x="3194573" y="3829118"/>
            <a:ext cx="1992853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DengXian" panose="02010600030101010101" pitchFamily="2" charset="-122"/>
                <a:ea typeface="DengXian" panose="02010600030101010101" pitchFamily="2" charset="-122"/>
              </a:rPr>
              <a:t>Select Shared Variants</a:t>
            </a:r>
            <a:endParaRPr kumimoji="1" lang="zh-CN" altLang="en-US" sz="14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11" name="肘形连接符 10">
            <a:extLst>
              <a:ext uri="{FF2B5EF4-FFF2-40B4-BE49-F238E27FC236}">
                <a16:creationId xmlns:a16="http://schemas.microsoft.com/office/drawing/2014/main" id="{989EEF83-D160-51BB-7D02-46517069293F}"/>
              </a:ext>
            </a:extLst>
          </p:cNvPr>
          <p:cNvCxnSpPr>
            <a:endCxn id="7" idx="1"/>
          </p:cNvCxnSpPr>
          <p:nvPr/>
        </p:nvCxnSpPr>
        <p:spPr>
          <a:xfrm rot="16200000" flipH="1">
            <a:off x="1679593" y="2468026"/>
            <a:ext cx="1530235" cy="14997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050AAE46-5EBD-567C-17B8-F4B10E0C6228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rot="5400000">
            <a:off x="5110092" y="2434256"/>
            <a:ext cx="1626086" cy="14714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CC6EBED4-E1B1-2A49-B81E-C03675E636F9}"/>
              </a:ext>
            </a:extLst>
          </p:cNvPr>
          <p:cNvGraphicFramePr>
            <a:graphicFrameLocks noGrp="1"/>
          </p:cNvGraphicFramePr>
          <p:nvPr/>
        </p:nvGraphicFramePr>
        <p:xfrm>
          <a:off x="3089708" y="5192293"/>
          <a:ext cx="2202584" cy="513440"/>
        </p:xfrm>
        <a:graphic>
          <a:graphicData uri="http://schemas.openxmlformats.org/drawingml/2006/table">
            <a:tbl>
              <a:tblPr/>
              <a:tblGrid>
                <a:gridCol w="2202584">
                  <a:extLst>
                    <a:ext uri="{9D8B030D-6E8A-4147-A177-3AD203B41FA5}">
                      <a16:colId xmlns:a16="http://schemas.microsoft.com/office/drawing/2014/main" val="1973616824"/>
                    </a:ext>
                  </a:extLst>
                </a:gridCol>
              </a:tblGrid>
              <a:tr h="2567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Samples: 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1,750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52" marR="6752" marT="67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518563"/>
                  </a:ext>
                </a:extLst>
              </a:tr>
              <a:tr h="2567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Variants: </a:t>
                      </a:r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382,521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2" marR="6752" marT="675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541229"/>
                  </a:ext>
                </a:extLst>
              </a:tr>
            </a:tbl>
          </a:graphicData>
        </a:graphic>
      </p:graphicFrame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160FBB63-27DF-3985-D75A-CA6B1540898B}"/>
              </a:ext>
            </a:extLst>
          </p:cNvPr>
          <p:cNvCxnSpPr>
            <a:stCxn id="7" idx="2"/>
            <a:endCxn id="16" idx="0"/>
          </p:cNvCxnSpPr>
          <p:nvPr/>
        </p:nvCxnSpPr>
        <p:spPr>
          <a:xfrm>
            <a:off x="4191000" y="4136895"/>
            <a:ext cx="0" cy="1055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7D2600A7-0A48-6CF3-5C6A-8248A137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8</a:t>
            </a:fld>
            <a:endParaRPr kumimoji="1" lang="zh-CN" altLang="en-US"/>
          </a:p>
        </p:txBody>
      </p:sp>
      <p:sp>
        <p:nvSpPr>
          <p:cNvPr id="201" name="Text 201"/>
          <p:cNvSpPr txBox="1"/>
          <p:nvPr/>
        </p:nvSpPr>
        <p:spPr>
          <a:xfrm>
            <a:off x="8128000" y="1143000"/>
            <a:ext cx="3683000" cy="419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Truth set: array genotypes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1,750 samples after array QC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385,609 variants after the ToMMo filter</a:t>
            </a:r>
          </a:p>
          <a:p>
            <a:pPr marL="0" indent="0" algn="l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Test set: WGS calls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Same 1,750 samples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41,179,812 variants called</a:t>
            </a:r>
          </a:p>
          <a:p>
            <a:pPr marL="0" indent="0" algn="l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Comparison set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382,521</a:t>
            </a:r>
            <a:r>
              <a:rPr lang="en-US" sz="1400" dirty="0">
                <a:solidFill>
                  <a:srgbClr val="212121"/>
                </a:solidFill>
              </a:rPr>
              <a:t> variants present on both platforms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Every metric that follows compares WGS and array genotypes at the same 382,521 sites in the same 1,750 samples.</a:t>
            </a:r>
          </a:p>
        </p:txBody>
      </p:sp>
    </p:spTree>
    <p:extLst>
      <p:ext uri="{BB962C8B-B14F-4D97-AF65-F5344CB8AC3E}">
        <p14:creationId xmlns:p14="http://schemas.microsoft.com/office/powerpoint/2010/main" val="295485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AD800D-BA00-B220-0E84-243B10D5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0069A2-B7A9-F6B6-9C9E-1DD2717573CA}"/>
              </a:ext>
            </a:extLst>
          </p:cNvPr>
          <p:cNvSpPr txBox="1"/>
          <p:nvPr/>
        </p:nvSpPr>
        <p:spPr>
          <a:xfrm>
            <a:off x="0" y="0"/>
            <a:ext cx="1143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Each DP/GQ/AF Combination Yields One Confusion Matrix</a:t>
            </a:r>
            <a:endParaRPr kumimoji="1" lang="zh-CN" altLang="en-US" sz="2400" b="1" u="sng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351E96A-33CD-CEF7-AB5F-BD33F365BB49}"/>
              </a:ext>
            </a:extLst>
          </p:cNvPr>
          <p:cNvSpPr txBox="1"/>
          <p:nvPr/>
        </p:nvSpPr>
        <p:spPr>
          <a:xfrm>
            <a:off x="790849" y="4681665"/>
            <a:ext cx="1164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/>
              <a:t>DP No-call Mask</a:t>
            </a:r>
            <a:endParaRPr kumimoji="1" lang="zh-CN" altLang="en-US" sz="10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F4F53D-9CFC-5A81-6649-EB87E50EE4B9}"/>
              </a:ext>
            </a:extLst>
          </p:cNvPr>
          <p:cNvSpPr txBox="1"/>
          <p:nvPr/>
        </p:nvSpPr>
        <p:spPr>
          <a:xfrm>
            <a:off x="2015949" y="4703205"/>
            <a:ext cx="11833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/>
              <a:t>GQ No-call Mask</a:t>
            </a:r>
            <a:endParaRPr kumimoji="1" lang="zh-CN" altLang="en-US" sz="1000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258314C-5C44-ADB2-D379-EDACDBF9619F}"/>
              </a:ext>
            </a:extLst>
          </p:cNvPr>
          <p:cNvSpPr txBox="1"/>
          <p:nvPr/>
        </p:nvSpPr>
        <p:spPr>
          <a:xfrm>
            <a:off x="5316724" y="4688568"/>
            <a:ext cx="1365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000" b="1" dirty="0"/>
              <a:t>Call Genotype (WGS)</a:t>
            </a:r>
            <a:r>
              <a:rPr kumimoji="1" lang="zh-CN" altLang="en-US" sz="1000" b="1" dirty="0"/>
              <a:t> </a:t>
            </a:r>
            <a:endParaRPr lang="zh-CN" altLang="en-US" sz="1000" b="1" dirty="0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1D7BD4D-95A6-D3EE-A682-1B2DDBDCCC8E}"/>
              </a:ext>
            </a:extLst>
          </p:cNvPr>
          <p:cNvSpPr/>
          <p:nvPr/>
        </p:nvSpPr>
        <p:spPr>
          <a:xfrm>
            <a:off x="648804" y="4423338"/>
            <a:ext cx="6383805" cy="2382580"/>
          </a:xfrm>
          <a:prstGeom prst="roundRect">
            <a:avLst>
              <a:gd name="adj" fmla="val 1239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2DDB0B-1535-52BD-FD8B-C00F449C92CE}"/>
              </a:ext>
            </a:extLst>
          </p:cNvPr>
          <p:cNvSpPr>
            <a:spLocks noChangeAspect="1"/>
          </p:cNvSpPr>
          <p:nvPr/>
        </p:nvSpPr>
        <p:spPr>
          <a:xfrm>
            <a:off x="989125" y="5893680"/>
            <a:ext cx="216000" cy="216000"/>
          </a:xfrm>
          <a:prstGeom prst="rect">
            <a:avLst/>
          </a:prstGeom>
          <a:solidFill>
            <a:srgbClr val="A6CA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95D557-22EA-5C72-9667-376085A553E3}"/>
              </a:ext>
            </a:extLst>
          </p:cNvPr>
          <p:cNvSpPr>
            <a:spLocks noChangeAspect="1"/>
          </p:cNvSpPr>
          <p:nvPr/>
        </p:nvSpPr>
        <p:spPr>
          <a:xfrm>
            <a:off x="989125" y="6186640"/>
            <a:ext cx="216000" cy="216000"/>
          </a:xfrm>
          <a:prstGeom prst="rect">
            <a:avLst/>
          </a:prstGeom>
          <a:solidFill>
            <a:srgbClr val="F6C6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94F42A-9F34-C358-4CEA-01BCE073E3A2}"/>
              </a:ext>
            </a:extLst>
          </p:cNvPr>
          <p:cNvSpPr>
            <a:spLocks noChangeAspect="1"/>
          </p:cNvSpPr>
          <p:nvPr/>
        </p:nvSpPr>
        <p:spPr>
          <a:xfrm>
            <a:off x="5316724" y="6109255"/>
            <a:ext cx="216000" cy="216000"/>
          </a:xfrm>
          <a:prstGeom prst="rect">
            <a:avLst/>
          </a:prstGeom>
          <a:solidFill>
            <a:srgbClr val="D1D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DC71BEC-4659-004D-F450-0D090DF26636}"/>
              </a:ext>
            </a:extLst>
          </p:cNvPr>
          <p:cNvSpPr txBox="1"/>
          <p:nvPr/>
        </p:nvSpPr>
        <p:spPr>
          <a:xfrm>
            <a:off x="1205126" y="5871162"/>
            <a:ext cx="1893467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1" b="1" dirty="0"/>
              <a:t>No-call under DP Threshold</a:t>
            </a:r>
            <a:endParaRPr kumimoji="1" lang="zh-CN" altLang="en-US" sz="1051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921EE0A-5193-243A-A272-30FA49905B6E}"/>
              </a:ext>
            </a:extLst>
          </p:cNvPr>
          <p:cNvSpPr txBox="1"/>
          <p:nvPr/>
        </p:nvSpPr>
        <p:spPr>
          <a:xfrm>
            <a:off x="1192308" y="6179860"/>
            <a:ext cx="1915909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1" b="1" dirty="0"/>
              <a:t>No-call under GQ Threshold</a:t>
            </a:r>
            <a:endParaRPr kumimoji="1" lang="zh-CN" altLang="en-US" sz="1051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90267D9-6887-873B-2656-243FF989FB19}"/>
              </a:ext>
            </a:extLst>
          </p:cNvPr>
          <p:cNvSpPr txBox="1"/>
          <p:nvPr/>
        </p:nvSpPr>
        <p:spPr>
          <a:xfrm>
            <a:off x="5532725" y="6090298"/>
            <a:ext cx="1165704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1" b="1" dirty="0"/>
              <a:t>Original No-call</a:t>
            </a:r>
            <a:endParaRPr kumimoji="1" lang="zh-CN" altLang="en-US" sz="1051" b="1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C3840D0-B057-70FE-B9A3-6E73B339AF45}"/>
              </a:ext>
            </a:extLst>
          </p:cNvPr>
          <p:cNvSpPr txBox="1"/>
          <p:nvPr/>
        </p:nvSpPr>
        <p:spPr>
          <a:xfrm>
            <a:off x="4725841" y="4902024"/>
            <a:ext cx="5757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400" b="1" dirty="0"/>
              <a:t>+</a:t>
            </a:r>
            <a:endParaRPr kumimoji="1" lang="zh-CN" altLang="en-US" sz="4400" b="1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EC5AAED-B504-499A-A761-56218BDE9F41}"/>
              </a:ext>
            </a:extLst>
          </p:cNvPr>
          <p:cNvSpPr txBox="1"/>
          <p:nvPr/>
        </p:nvSpPr>
        <p:spPr>
          <a:xfrm>
            <a:off x="8330326" y="1766876"/>
            <a:ext cx="142764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1000" b="1" dirty="0"/>
              <a:t>Call Genotype under Candidate Parameter Combination (WGS)</a:t>
            </a:r>
            <a:r>
              <a:rPr kumimoji="1" lang="zh-CN" altLang="en-US" sz="1000" b="1" dirty="0"/>
              <a:t> </a:t>
            </a:r>
            <a:endParaRPr lang="zh-CN" altLang="en-US" sz="10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E935E77-5340-E322-9E25-3C1106D3A3CA}"/>
              </a:ext>
            </a:extLst>
          </p:cNvPr>
          <p:cNvSpPr txBox="1"/>
          <p:nvPr/>
        </p:nvSpPr>
        <p:spPr>
          <a:xfrm>
            <a:off x="10271719" y="1971103"/>
            <a:ext cx="14987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000" b="1" dirty="0"/>
              <a:t>True Genotype (Array)</a:t>
            </a:r>
            <a:r>
              <a:rPr kumimoji="1" lang="zh-CN" altLang="en-US" sz="1000" b="1" dirty="0"/>
              <a:t> </a:t>
            </a:r>
            <a:endParaRPr lang="zh-CN" altLang="en-US" sz="1000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C3CEC6F-1A84-6DB9-AB2B-A55CB9B507E8}"/>
              </a:ext>
            </a:extLst>
          </p:cNvPr>
          <p:cNvSpPr>
            <a:spLocks noChangeAspect="1"/>
          </p:cNvSpPr>
          <p:nvPr/>
        </p:nvSpPr>
        <p:spPr>
          <a:xfrm>
            <a:off x="9517041" y="3457967"/>
            <a:ext cx="216000" cy="216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EEEE840-F5EA-D293-5AF9-DBB29F62CC5B}"/>
              </a:ext>
            </a:extLst>
          </p:cNvPr>
          <p:cNvSpPr txBox="1"/>
          <p:nvPr/>
        </p:nvSpPr>
        <p:spPr>
          <a:xfrm>
            <a:off x="9733042" y="3436667"/>
            <a:ext cx="639919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1" b="1" dirty="0"/>
              <a:t>No-call</a:t>
            </a:r>
            <a:endParaRPr kumimoji="1" lang="zh-CN" altLang="en-US" sz="1051" b="1" dirty="0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AB55698D-E5C0-A750-B882-650BFD470C93}"/>
              </a:ext>
            </a:extLst>
          </p:cNvPr>
          <p:cNvSpPr/>
          <p:nvPr/>
        </p:nvSpPr>
        <p:spPr>
          <a:xfrm>
            <a:off x="8009955" y="1421665"/>
            <a:ext cx="3944493" cy="233884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DDFAA60-8FF2-0FE0-78F3-F885A82425FB}"/>
              </a:ext>
            </a:extLst>
          </p:cNvPr>
          <p:cNvSpPr txBox="1"/>
          <p:nvPr/>
        </p:nvSpPr>
        <p:spPr>
          <a:xfrm>
            <a:off x="9848011" y="2484636"/>
            <a:ext cx="5757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400" b="1" dirty="0"/>
              <a:t>+</a:t>
            </a:r>
            <a:endParaRPr kumimoji="1" lang="zh-CN" altLang="en-US" sz="4400" b="1" dirty="0"/>
          </a:p>
        </p:txBody>
      </p:sp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50BC77A2-B548-8B5E-B95B-EB8CE900DB19}"/>
              </a:ext>
            </a:extLst>
          </p:cNvPr>
          <p:cNvGraphicFramePr>
            <a:graphicFrameLocks noGrp="1"/>
          </p:cNvGraphicFramePr>
          <p:nvPr/>
        </p:nvGraphicFramePr>
        <p:xfrm>
          <a:off x="8894682" y="4414643"/>
          <a:ext cx="2146854" cy="116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809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233680">
                <a:tc rowSpan="2" gridSpan="2"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WGS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233680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NC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23368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Array</a:t>
                      </a:r>
                      <a:endParaRPr lang="zh-CN" altLang="en-US" sz="1100" b="1" dirty="0"/>
                    </a:p>
                  </a:txBody>
                  <a:tcPr vert="vert27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sp>
        <p:nvSpPr>
          <p:cNvPr id="48" name="文本框 47">
            <a:extLst>
              <a:ext uri="{FF2B5EF4-FFF2-40B4-BE49-F238E27FC236}">
                <a16:creationId xmlns:a16="http://schemas.microsoft.com/office/drawing/2014/main" id="{504E3576-252D-D546-8198-82A7B0B376EB}"/>
              </a:ext>
            </a:extLst>
          </p:cNvPr>
          <p:cNvSpPr txBox="1"/>
          <p:nvPr/>
        </p:nvSpPr>
        <p:spPr>
          <a:xfrm>
            <a:off x="9084604" y="4153169"/>
            <a:ext cx="17956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/>
              <a:t>Genotype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Confusion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Matrix</a:t>
            </a:r>
            <a:endParaRPr kumimoji="1" lang="zh-CN" altLang="en-US" sz="1000" dirty="0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8D98B6DF-7FA6-69E4-BB97-7DA8E8EE4344}"/>
              </a:ext>
            </a:extLst>
          </p:cNvPr>
          <p:cNvSpPr/>
          <p:nvPr/>
        </p:nvSpPr>
        <p:spPr>
          <a:xfrm>
            <a:off x="8657823" y="4105262"/>
            <a:ext cx="2649196" cy="1645247"/>
          </a:xfrm>
          <a:prstGeom prst="roundRect">
            <a:avLst>
              <a:gd name="adj" fmla="val 1462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0D3BD04-DD60-1E44-96F2-2C2CFFCF78D4}"/>
              </a:ext>
            </a:extLst>
          </p:cNvPr>
          <p:cNvSpPr txBox="1"/>
          <p:nvPr/>
        </p:nvSpPr>
        <p:spPr>
          <a:xfrm>
            <a:off x="8823353" y="6096173"/>
            <a:ext cx="2317693" cy="30646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b="1" u="sng" dirty="0"/>
              <a:t>Genotype Consistency Metrics </a:t>
            </a:r>
            <a:endParaRPr lang="zh-CN" altLang="en-US" sz="1200" dirty="0"/>
          </a:p>
        </p:txBody>
      </p:sp>
      <p:pic>
        <p:nvPicPr>
          <p:cNvPr id="23" name="图片 22" descr="手机屏幕的截图&#10;&#10;AI 生成的内容可能不正确。">
            <a:extLst>
              <a:ext uri="{FF2B5EF4-FFF2-40B4-BE49-F238E27FC236}">
                <a16:creationId xmlns:a16="http://schemas.microsoft.com/office/drawing/2014/main" id="{67EFA27A-2A3D-0F89-98A4-15318BCAA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202" y="5019605"/>
            <a:ext cx="633789" cy="655643"/>
          </a:xfrm>
          <a:prstGeom prst="rect">
            <a:avLst/>
          </a:prstGeom>
        </p:spPr>
      </p:pic>
      <p:grpSp>
        <p:nvGrpSpPr>
          <p:cNvPr id="56" name="组合 55">
            <a:extLst>
              <a:ext uri="{FF2B5EF4-FFF2-40B4-BE49-F238E27FC236}">
                <a16:creationId xmlns:a16="http://schemas.microsoft.com/office/drawing/2014/main" id="{A663942E-C412-0F15-9991-974DC3C2A79C}"/>
              </a:ext>
            </a:extLst>
          </p:cNvPr>
          <p:cNvGrpSpPr/>
          <p:nvPr/>
        </p:nvGrpSpPr>
        <p:grpSpPr>
          <a:xfrm>
            <a:off x="5269254" y="784822"/>
            <a:ext cx="848309" cy="844207"/>
            <a:chOff x="4067735" y="984218"/>
            <a:chExt cx="848309" cy="844206"/>
          </a:xfrm>
        </p:grpSpPr>
        <p:pic>
          <p:nvPicPr>
            <p:cNvPr id="45" name="图片 44" descr="图片包含 徽标&#10;&#10;AI 生成的内容可能不正确。">
              <a:extLst>
                <a:ext uri="{FF2B5EF4-FFF2-40B4-BE49-F238E27FC236}">
                  <a16:creationId xmlns:a16="http://schemas.microsoft.com/office/drawing/2014/main" id="{FBB1290D-086F-BE1F-949E-E588F2CAD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7847" y="1236759"/>
              <a:ext cx="571943" cy="591665"/>
            </a:xfrm>
            <a:prstGeom prst="rect">
              <a:avLst/>
            </a:prstGeom>
          </p:spPr>
        </p:pic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74AF81DB-B1C0-8C7C-4F69-06D2976C1778}"/>
                </a:ext>
              </a:extLst>
            </p:cNvPr>
            <p:cNvSpPr txBox="1"/>
            <p:nvPr/>
          </p:nvSpPr>
          <p:spPr>
            <a:xfrm>
              <a:off x="4067735" y="984218"/>
              <a:ext cx="8483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/>
                <a:t>GT=1 Mask</a:t>
              </a:r>
              <a:endParaRPr kumimoji="1" lang="zh-CN" altLang="en-US" sz="1000" b="1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51E0493-D270-B9D9-6388-32D1A78DA2B8}"/>
              </a:ext>
            </a:extLst>
          </p:cNvPr>
          <p:cNvGrpSpPr/>
          <p:nvPr/>
        </p:nvGrpSpPr>
        <p:grpSpPr>
          <a:xfrm>
            <a:off x="5128340" y="2133626"/>
            <a:ext cx="1116011" cy="875769"/>
            <a:chOff x="3959083" y="1954908"/>
            <a:chExt cx="1116012" cy="875769"/>
          </a:xfrm>
        </p:grpSpPr>
        <p:pic>
          <p:nvPicPr>
            <p:cNvPr id="52" name="图片 51" descr="图片包含 徽标&#10;&#10;AI 生成的内容可能不正确。">
              <a:extLst>
                <a:ext uri="{FF2B5EF4-FFF2-40B4-BE49-F238E27FC236}">
                  <a16:creationId xmlns:a16="http://schemas.microsoft.com/office/drawing/2014/main" id="{0B7CDFBB-7577-1641-50E7-16C004311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12774" y="2213450"/>
              <a:ext cx="617227" cy="617227"/>
            </a:xfrm>
            <a:prstGeom prst="rect">
              <a:avLst/>
            </a:prstGeom>
          </p:spPr>
        </p:pic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AB72049B-74AC-C5D6-C588-DAB6A85BDAA4}"/>
                </a:ext>
              </a:extLst>
            </p:cNvPr>
            <p:cNvSpPr txBox="1"/>
            <p:nvPr/>
          </p:nvSpPr>
          <p:spPr>
            <a:xfrm>
              <a:off x="3959083" y="1954908"/>
              <a:ext cx="11160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/>
                <a:t>AF Outlier Mask</a:t>
              </a:r>
              <a:endParaRPr kumimoji="1" lang="zh-CN" altLang="en-US" sz="1000" b="1" dirty="0"/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43FBC055-0EFB-551C-C90A-DD344B5CE15A}"/>
              </a:ext>
            </a:extLst>
          </p:cNvPr>
          <p:cNvSpPr txBox="1"/>
          <p:nvPr/>
        </p:nvSpPr>
        <p:spPr>
          <a:xfrm>
            <a:off x="5405510" y="1539220"/>
            <a:ext cx="5757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400" b="1" dirty="0"/>
              <a:t>+</a:t>
            </a:r>
            <a:endParaRPr kumimoji="1" lang="zh-CN" altLang="en-US" sz="4400" b="1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14472FF-A11C-0F32-D8A3-2AB0050A3881}"/>
              </a:ext>
            </a:extLst>
          </p:cNvPr>
          <p:cNvSpPr>
            <a:spLocks noChangeAspect="1"/>
          </p:cNvSpPr>
          <p:nvPr/>
        </p:nvSpPr>
        <p:spPr>
          <a:xfrm>
            <a:off x="4719039" y="3243201"/>
            <a:ext cx="216000" cy="216000"/>
          </a:xfrm>
          <a:prstGeom prst="rect">
            <a:avLst/>
          </a:prstGeom>
          <a:solidFill>
            <a:srgbClr val="D86E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C00C618-ADC9-5F06-63E4-1AF939C777DF}"/>
              </a:ext>
            </a:extLst>
          </p:cNvPr>
          <p:cNvSpPr txBox="1"/>
          <p:nvPr/>
        </p:nvSpPr>
        <p:spPr>
          <a:xfrm>
            <a:off x="4924911" y="3226658"/>
            <a:ext cx="1930337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1" b="1" dirty="0"/>
              <a:t>Call </a:t>
            </a:r>
            <a:r>
              <a:rPr lang="en-US" altLang="zh-CN" sz="1051" b="1" dirty="0"/>
              <a:t>Heterozygous</a:t>
            </a:r>
            <a:r>
              <a:rPr lang="zh-CN" altLang="en-US" sz="1051" dirty="0"/>
              <a:t> </a:t>
            </a:r>
            <a:r>
              <a:rPr kumimoji="1" lang="en-US" altLang="zh-CN" sz="1051" b="1" dirty="0"/>
              <a:t>Genotype</a:t>
            </a:r>
            <a:endParaRPr kumimoji="1" lang="zh-CN" altLang="en-US" sz="1051" b="1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2AE471C-2027-EDF8-488F-4C7D038AF568}"/>
              </a:ext>
            </a:extLst>
          </p:cNvPr>
          <p:cNvSpPr>
            <a:spLocks noChangeAspect="1"/>
          </p:cNvSpPr>
          <p:nvPr/>
        </p:nvSpPr>
        <p:spPr>
          <a:xfrm>
            <a:off x="4725271" y="3574440"/>
            <a:ext cx="216000" cy="216000"/>
          </a:xfrm>
          <a:prstGeom prst="rect">
            <a:avLst/>
          </a:prstGeom>
          <a:solidFill>
            <a:srgbClr val="3B7C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235A9DB-7C14-0186-23B6-A059C54529BD}"/>
              </a:ext>
            </a:extLst>
          </p:cNvPr>
          <p:cNvSpPr txBox="1"/>
          <p:nvPr/>
        </p:nvSpPr>
        <p:spPr>
          <a:xfrm>
            <a:off x="4924911" y="3555483"/>
            <a:ext cx="800219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1" b="1" dirty="0"/>
              <a:t>AF Outlier</a:t>
            </a:r>
            <a:endParaRPr kumimoji="1" lang="zh-CN" altLang="en-US" sz="1051" b="1" dirty="0"/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75B0BFBF-EA61-F83C-655A-E393DBC0D67C}"/>
              </a:ext>
            </a:extLst>
          </p:cNvPr>
          <p:cNvSpPr/>
          <p:nvPr/>
        </p:nvSpPr>
        <p:spPr>
          <a:xfrm>
            <a:off x="4489325" y="721025"/>
            <a:ext cx="2543287" cy="3194139"/>
          </a:xfrm>
          <a:prstGeom prst="roundRect">
            <a:avLst>
              <a:gd name="adj" fmla="val 1225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A2CC4C9-BFD6-9956-8938-1AE36913C9D9}"/>
              </a:ext>
            </a:extLst>
          </p:cNvPr>
          <p:cNvGrpSpPr/>
          <p:nvPr/>
        </p:nvGrpSpPr>
        <p:grpSpPr>
          <a:xfrm>
            <a:off x="647418" y="683407"/>
            <a:ext cx="3744945" cy="3194139"/>
            <a:chOff x="-588721" y="702086"/>
            <a:chExt cx="3744945" cy="319413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9545878-A337-F5EE-4CA5-12C0DD640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588721" y="702086"/>
              <a:ext cx="3744945" cy="3194138"/>
            </a:xfrm>
            <a:prstGeom prst="rect">
              <a:avLst/>
            </a:prstGeom>
          </p:spPr>
        </p:pic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425382AA-670B-30E8-0B8A-C16B748ED9E6}"/>
                </a:ext>
              </a:extLst>
            </p:cNvPr>
            <p:cNvSpPr/>
            <p:nvPr/>
          </p:nvSpPr>
          <p:spPr>
            <a:xfrm>
              <a:off x="1455948" y="2135014"/>
              <a:ext cx="108000" cy="10800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74" name="肘形连接符 73">
            <a:extLst>
              <a:ext uri="{FF2B5EF4-FFF2-40B4-BE49-F238E27FC236}">
                <a16:creationId xmlns:a16="http://schemas.microsoft.com/office/drawing/2014/main" id="{338C66FE-2F74-40F1-0A4D-47F0808B88BA}"/>
              </a:ext>
            </a:extLst>
          </p:cNvPr>
          <p:cNvCxnSpPr>
            <a:stCxn id="69" idx="6"/>
            <a:endCxn id="68" idx="1"/>
          </p:cNvCxnSpPr>
          <p:nvPr/>
        </p:nvCxnSpPr>
        <p:spPr>
          <a:xfrm>
            <a:off x="2800088" y="2170335"/>
            <a:ext cx="1689237" cy="147759"/>
          </a:xfrm>
          <a:prstGeom prst="bentConnector3">
            <a:avLst>
              <a:gd name="adj1" fmla="val 4652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图片 76" descr="徽标, 图标&#10;&#10;AI 生成的内容可能不正确。">
            <a:extLst>
              <a:ext uri="{FF2B5EF4-FFF2-40B4-BE49-F238E27FC236}">
                <a16:creationId xmlns:a16="http://schemas.microsoft.com/office/drawing/2014/main" id="{1BE52D5F-F278-113B-BF47-3149038766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439" y="4998066"/>
            <a:ext cx="634920" cy="656815"/>
          </a:xfrm>
          <a:prstGeom prst="rect">
            <a:avLst/>
          </a:prstGeom>
        </p:spPr>
      </p:pic>
      <p:pic>
        <p:nvPicPr>
          <p:cNvPr id="81" name="图片 80" descr="徽标&#10;&#10;AI 生成的内容可能不正确。">
            <a:extLst>
              <a:ext uri="{FF2B5EF4-FFF2-40B4-BE49-F238E27FC236}">
                <a16:creationId xmlns:a16="http://schemas.microsoft.com/office/drawing/2014/main" id="{04479A5C-5F30-FC9F-9E7E-E650357F7F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3634" y="4987929"/>
            <a:ext cx="661753" cy="676793"/>
          </a:xfrm>
          <a:prstGeom prst="rect">
            <a:avLst/>
          </a:prstGeom>
        </p:spPr>
      </p:pic>
      <p:sp>
        <p:nvSpPr>
          <p:cNvPr id="83" name="文本框 82">
            <a:extLst>
              <a:ext uri="{FF2B5EF4-FFF2-40B4-BE49-F238E27FC236}">
                <a16:creationId xmlns:a16="http://schemas.microsoft.com/office/drawing/2014/main" id="{33DE92F3-A114-5990-C8DB-F58D75F71CC4}"/>
              </a:ext>
            </a:extLst>
          </p:cNvPr>
          <p:cNvSpPr txBox="1"/>
          <p:nvPr/>
        </p:nvSpPr>
        <p:spPr>
          <a:xfrm>
            <a:off x="3333176" y="4703205"/>
            <a:ext cx="11641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000" b="1" dirty="0"/>
              <a:t>AF No-call Mask</a:t>
            </a:r>
            <a:endParaRPr kumimoji="1" lang="zh-CN" altLang="en-US" sz="1000" b="1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D6C901F-451E-1F06-624C-7C3BFB1475B7}"/>
              </a:ext>
            </a:extLst>
          </p:cNvPr>
          <p:cNvSpPr>
            <a:spLocks noChangeAspect="1"/>
          </p:cNvSpPr>
          <p:nvPr/>
        </p:nvSpPr>
        <p:spPr>
          <a:xfrm>
            <a:off x="989125" y="6481624"/>
            <a:ext cx="216000" cy="216000"/>
          </a:xfrm>
          <a:prstGeom prst="rect">
            <a:avLst/>
          </a:prstGeom>
          <a:solidFill>
            <a:srgbClr val="EAE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07D7690-A9DB-AE5F-1312-1FD1E8C8C2A9}"/>
              </a:ext>
            </a:extLst>
          </p:cNvPr>
          <p:cNvSpPr txBox="1"/>
          <p:nvPr/>
        </p:nvSpPr>
        <p:spPr>
          <a:xfrm>
            <a:off x="1192306" y="6462284"/>
            <a:ext cx="1875835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1" b="1" dirty="0"/>
              <a:t>No-call under AF Threshold</a:t>
            </a:r>
            <a:endParaRPr kumimoji="1" lang="zh-CN" altLang="en-US" sz="1051" b="1" dirty="0"/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28A107C8-BECF-F809-9B32-54F1677981A1}"/>
              </a:ext>
            </a:extLst>
          </p:cNvPr>
          <p:cNvSpPr/>
          <p:nvPr/>
        </p:nvSpPr>
        <p:spPr>
          <a:xfrm>
            <a:off x="3316320" y="4655794"/>
            <a:ext cx="1123859" cy="1157903"/>
          </a:xfrm>
          <a:prstGeom prst="roundRect">
            <a:avLst>
              <a:gd name="adj" fmla="val 1225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9" name="肘形连接符 88">
            <a:extLst>
              <a:ext uri="{FF2B5EF4-FFF2-40B4-BE49-F238E27FC236}">
                <a16:creationId xmlns:a16="http://schemas.microsoft.com/office/drawing/2014/main" id="{5703D22C-12AB-E7A0-756A-CEA88CFF4119}"/>
              </a:ext>
            </a:extLst>
          </p:cNvPr>
          <p:cNvCxnSpPr>
            <a:cxnSpLocks/>
            <a:stCxn id="68" idx="2"/>
            <a:endCxn id="87" idx="0"/>
          </p:cNvCxnSpPr>
          <p:nvPr/>
        </p:nvCxnSpPr>
        <p:spPr>
          <a:xfrm rot="5400000">
            <a:off x="4449295" y="3344118"/>
            <a:ext cx="740631" cy="1882719"/>
          </a:xfrm>
          <a:prstGeom prst="bentConnector3">
            <a:avLst>
              <a:gd name="adj1" fmla="val 3980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2" name="图片 91" descr="箭头&#10;&#10;AI 生成的内容可能不正确。">
            <a:extLst>
              <a:ext uri="{FF2B5EF4-FFF2-40B4-BE49-F238E27FC236}">
                <a16:creationId xmlns:a16="http://schemas.microsoft.com/office/drawing/2014/main" id="{8485FE58-F483-49D2-9AB1-BA98FFA22E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5291" y="4948450"/>
            <a:ext cx="712055" cy="728239"/>
          </a:xfrm>
          <a:prstGeom prst="rect">
            <a:avLst/>
          </a:prstGeom>
        </p:spPr>
      </p:pic>
      <p:pic>
        <p:nvPicPr>
          <p:cNvPr id="94" name="图片 93" descr="形状&#10;&#10;AI 生成的内容可能不正确。">
            <a:extLst>
              <a:ext uri="{FF2B5EF4-FFF2-40B4-BE49-F238E27FC236}">
                <a16:creationId xmlns:a16="http://schemas.microsoft.com/office/drawing/2014/main" id="{CF2DFEC7-86CD-32DA-9678-2B2013971E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9181" y="2475325"/>
            <a:ext cx="712055" cy="728239"/>
          </a:xfrm>
          <a:prstGeom prst="rect">
            <a:avLst/>
          </a:prstGeom>
        </p:spPr>
      </p:pic>
      <p:pic>
        <p:nvPicPr>
          <p:cNvPr id="97" name="图片 96" descr="形状&#10;&#10;AI 生成的内容可能不正确。">
            <a:extLst>
              <a:ext uri="{FF2B5EF4-FFF2-40B4-BE49-F238E27FC236}">
                <a16:creationId xmlns:a16="http://schemas.microsoft.com/office/drawing/2014/main" id="{A8A2519D-A28D-9A7A-F11A-FAEDC27436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5078" y="2484634"/>
            <a:ext cx="712055" cy="728239"/>
          </a:xfrm>
          <a:prstGeom prst="rect">
            <a:avLst/>
          </a:prstGeom>
        </p:spPr>
      </p:pic>
      <p:sp>
        <p:nvSpPr>
          <p:cNvPr id="111" name="圆角矩形 110">
            <a:extLst>
              <a:ext uri="{FF2B5EF4-FFF2-40B4-BE49-F238E27FC236}">
                <a16:creationId xmlns:a16="http://schemas.microsoft.com/office/drawing/2014/main" id="{DC4495AF-6E24-BABD-A794-4741E81A656C}"/>
              </a:ext>
            </a:extLst>
          </p:cNvPr>
          <p:cNvSpPr/>
          <p:nvPr/>
        </p:nvSpPr>
        <p:spPr>
          <a:xfrm>
            <a:off x="810967" y="4629898"/>
            <a:ext cx="2340732" cy="1157903"/>
          </a:xfrm>
          <a:prstGeom prst="roundRect">
            <a:avLst>
              <a:gd name="adj" fmla="val 12255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6" name="肘形连接符 135">
            <a:extLst>
              <a:ext uri="{FF2B5EF4-FFF2-40B4-BE49-F238E27FC236}">
                <a16:creationId xmlns:a16="http://schemas.microsoft.com/office/drawing/2014/main" id="{7B928C5C-9F8F-712B-4E0B-792534CE528A}"/>
              </a:ext>
            </a:extLst>
          </p:cNvPr>
          <p:cNvCxnSpPr>
            <a:stCxn id="69" idx="2"/>
            <a:endCxn id="111" idx="1"/>
          </p:cNvCxnSpPr>
          <p:nvPr/>
        </p:nvCxnSpPr>
        <p:spPr>
          <a:xfrm rot="10800000" flipV="1">
            <a:off x="810970" y="2170335"/>
            <a:ext cx="1881119" cy="3038515"/>
          </a:xfrm>
          <a:prstGeom prst="bentConnector3">
            <a:avLst>
              <a:gd name="adj1" fmla="val 118841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CA471A96-D247-AA93-8CC2-DE4869030BC5}"/>
              </a:ext>
            </a:extLst>
          </p:cNvPr>
          <p:cNvCxnSpPr>
            <a:cxnSpLocks/>
            <a:stCxn id="40" idx="2"/>
            <a:endCxn id="49" idx="0"/>
          </p:cNvCxnSpPr>
          <p:nvPr/>
        </p:nvCxnSpPr>
        <p:spPr>
          <a:xfrm>
            <a:off x="9982201" y="3760505"/>
            <a:ext cx="220" cy="3447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9F5A9D10-2013-42B8-5CB0-DD820E760D8A}"/>
              </a:ext>
            </a:extLst>
          </p:cNvPr>
          <p:cNvCxnSpPr>
            <a:cxnSpLocks/>
            <a:stCxn id="49" idx="2"/>
            <a:endCxn id="58" idx="0"/>
          </p:cNvCxnSpPr>
          <p:nvPr/>
        </p:nvCxnSpPr>
        <p:spPr>
          <a:xfrm flipH="1">
            <a:off x="9982200" y="5750509"/>
            <a:ext cx="221" cy="3456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圆角矩形 154">
            <a:extLst>
              <a:ext uri="{FF2B5EF4-FFF2-40B4-BE49-F238E27FC236}">
                <a16:creationId xmlns:a16="http://schemas.microsoft.com/office/drawing/2014/main" id="{A120A946-2448-A0BA-D6EC-F5486E1C4801}"/>
              </a:ext>
            </a:extLst>
          </p:cNvPr>
          <p:cNvSpPr/>
          <p:nvPr/>
        </p:nvSpPr>
        <p:spPr>
          <a:xfrm>
            <a:off x="8317374" y="1677785"/>
            <a:ext cx="1415668" cy="1660577"/>
          </a:xfrm>
          <a:prstGeom prst="roundRect">
            <a:avLst>
              <a:gd name="adj" fmla="val 1225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7" name="肘形连接符 156">
            <a:extLst>
              <a:ext uri="{FF2B5EF4-FFF2-40B4-BE49-F238E27FC236}">
                <a16:creationId xmlns:a16="http://schemas.microsoft.com/office/drawing/2014/main" id="{E9BFA495-3F7B-1B2F-FFCA-77C12692EDAA}"/>
              </a:ext>
            </a:extLst>
          </p:cNvPr>
          <p:cNvCxnSpPr>
            <a:stCxn id="25" idx="3"/>
            <a:endCxn id="155" idx="1"/>
          </p:cNvCxnSpPr>
          <p:nvPr/>
        </p:nvCxnSpPr>
        <p:spPr>
          <a:xfrm flipV="1">
            <a:off x="7032610" y="2508071"/>
            <a:ext cx="1284764" cy="3106556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533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15624-363E-D8CA-247B-773A6EB27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C1008C4-E1D4-65AE-4EA6-80C5FED099C4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Genotype Confusion Matrix: WGS Calls Against Array Truth</a:t>
            </a:r>
            <a:endParaRPr kumimoji="1" lang="zh-CN" altLang="en-US" sz="2400" b="1" u="sng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4854DDE-175F-A29C-9949-5603D77F231D}"/>
              </a:ext>
            </a:extLst>
          </p:cNvPr>
          <p:cNvGraphicFramePr>
            <a:graphicFrameLocks noGrp="1"/>
          </p:cNvGraphicFramePr>
          <p:nvPr/>
        </p:nvGraphicFramePr>
        <p:xfrm>
          <a:off x="500105" y="1080117"/>
          <a:ext cx="7196923" cy="2179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6194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1406021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1406022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1310697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1286868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1251121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435864">
                <a:tc rowSpan="2" gridSpan="2"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700" b="1" dirty="0"/>
                        <a:t>WGS</a:t>
                      </a:r>
                      <a:endParaRPr lang="zh-CN" altLang="en-US" sz="1700" b="1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435864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700" b="1" dirty="0"/>
                        <a:t>Ref / Ref</a:t>
                      </a:r>
                      <a:endParaRPr lang="zh-CN" altLang="en-US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700" b="1" dirty="0"/>
                        <a:t>Ref / Alt</a:t>
                      </a:r>
                      <a:endParaRPr lang="zh-CN" altLang="en-US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700" b="1" dirty="0"/>
                        <a:t>Alt / Alt</a:t>
                      </a:r>
                      <a:endParaRPr lang="zh-CN" altLang="en-US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700" b="1" dirty="0"/>
                        <a:t>No-call</a:t>
                      </a:r>
                      <a:endParaRPr lang="zh-CN" altLang="en-US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43586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700" b="1" dirty="0"/>
                        <a:t>Array</a:t>
                      </a:r>
                      <a:endParaRPr lang="zh-CN" altLang="en-US" sz="1700" b="1" dirty="0"/>
                    </a:p>
                  </a:txBody>
                  <a:tcPr vert="vert27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b="1" dirty="0"/>
                        <a:t>Ref / Ref</a:t>
                      </a:r>
                      <a:endParaRPr lang="zh-CN" altLang="en-US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43586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b="1" dirty="0"/>
                        <a:t>Ref / Alt</a:t>
                      </a:r>
                      <a:endParaRPr lang="zh-CN" altLang="en-US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43586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b="1" dirty="0"/>
                        <a:t>Alt / Alt</a:t>
                      </a:r>
                      <a:endParaRPr lang="zh-CN" altLang="en-US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700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1AAA9A4-C051-E4CA-7E4C-8FAEE0C76B28}"/>
              </a:ext>
            </a:extLst>
          </p:cNvPr>
          <p:cNvSpPr/>
          <p:nvPr/>
        </p:nvSpPr>
        <p:spPr>
          <a:xfrm>
            <a:off x="7873615" y="793383"/>
            <a:ext cx="581439" cy="284259"/>
          </a:xfrm>
          <a:prstGeom prst="rect">
            <a:avLst/>
          </a:prstGeom>
          <a:solidFill>
            <a:srgbClr val="F6C6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FCF4F2-8AA8-FC91-4F67-2FFC401B8E64}"/>
              </a:ext>
            </a:extLst>
          </p:cNvPr>
          <p:cNvSpPr/>
          <p:nvPr/>
        </p:nvSpPr>
        <p:spPr>
          <a:xfrm>
            <a:off x="7873615" y="1616659"/>
            <a:ext cx="581439" cy="2842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20B542-FD18-B2F7-93B7-03CB79F70FEC}"/>
              </a:ext>
            </a:extLst>
          </p:cNvPr>
          <p:cNvSpPr/>
          <p:nvPr/>
        </p:nvSpPr>
        <p:spPr>
          <a:xfrm>
            <a:off x="7873615" y="2370483"/>
            <a:ext cx="581439" cy="284259"/>
          </a:xfrm>
          <a:prstGeom prst="rect">
            <a:avLst/>
          </a:prstGeom>
          <a:solidFill>
            <a:srgbClr val="83E3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258BFE-4C76-FD43-C77B-957DCC81169B}"/>
              </a:ext>
            </a:extLst>
          </p:cNvPr>
          <p:cNvSpPr txBox="1"/>
          <p:nvPr/>
        </p:nvSpPr>
        <p:spPr>
          <a:xfrm>
            <a:off x="8635944" y="1302193"/>
            <a:ext cx="2238529" cy="44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TP: True Positive</a:t>
            </a:r>
            <a:endParaRPr kumimoji="1"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C55041-A8D5-CDB5-DB57-CE38E1AFF731}"/>
              </a:ext>
            </a:extLst>
          </p:cNvPr>
          <p:cNvSpPr txBox="1"/>
          <p:nvPr/>
        </p:nvSpPr>
        <p:spPr>
          <a:xfrm>
            <a:off x="8631636" y="2336730"/>
            <a:ext cx="2474010" cy="44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FN: False Negative</a:t>
            </a:r>
            <a:endParaRPr kumimoji="1" lang="zh-CN" altLang="en-US" b="1" dirty="0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933E70D5-F599-23E9-13CA-E182AB1ADE5A}"/>
              </a:ext>
            </a:extLst>
          </p:cNvPr>
          <p:cNvSpPr/>
          <p:nvPr/>
        </p:nvSpPr>
        <p:spPr>
          <a:xfrm>
            <a:off x="8480893" y="1281220"/>
            <a:ext cx="310101" cy="972715"/>
          </a:xfrm>
          <a:prstGeom prst="leftBrace">
            <a:avLst>
              <a:gd name="adj1" fmla="val 2916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DDD68C-0D4D-DB36-F556-A89327108B1F}"/>
              </a:ext>
            </a:extLst>
          </p:cNvPr>
          <p:cNvSpPr txBox="1"/>
          <p:nvPr/>
        </p:nvSpPr>
        <p:spPr>
          <a:xfrm>
            <a:off x="8631637" y="715452"/>
            <a:ext cx="2278123" cy="44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FP: False Positive</a:t>
            </a:r>
            <a:endParaRPr kumimoji="1"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6D996A-59EA-F011-9EBD-DC6601FC0EFB}"/>
              </a:ext>
            </a:extLst>
          </p:cNvPr>
          <p:cNvSpPr txBox="1"/>
          <p:nvPr/>
        </p:nvSpPr>
        <p:spPr>
          <a:xfrm>
            <a:off x="8635945" y="1778065"/>
            <a:ext cx="2434417" cy="44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TN: True Negative</a:t>
            </a:r>
            <a:endParaRPr kumimoji="1"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59DFA1-D429-487B-B3F2-349851B7ED46}"/>
              </a:ext>
            </a:extLst>
          </p:cNvPr>
          <p:cNvSpPr/>
          <p:nvPr/>
        </p:nvSpPr>
        <p:spPr>
          <a:xfrm>
            <a:off x="7873615" y="3124306"/>
            <a:ext cx="581439" cy="284259"/>
          </a:xfrm>
          <a:prstGeom prst="rect">
            <a:avLst/>
          </a:prstGeom>
          <a:solidFill>
            <a:srgbClr val="D1D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C729DC-CF8E-5DD4-9F70-8B48BD714D10}"/>
              </a:ext>
            </a:extLst>
          </p:cNvPr>
          <p:cNvSpPr txBox="1"/>
          <p:nvPr/>
        </p:nvSpPr>
        <p:spPr>
          <a:xfrm>
            <a:off x="8626648" y="3046377"/>
            <a:ext cx="1169486" cy="44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Missing</a:t>
            </a:r>
            <a:endParaRPr kumimoji="1"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071C3B3-E58B-CCA4-DA8A-CC0519BF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10</a:t>
            </a:fld>
            <a:endParaRPr kumimoji="1" lang="zh-CN" altLang="en-US"/>
          </a:p>
        </p:txBody>
      </p:sp>
      <p:sp>
        <p:nvSpPr>
          <p:cNvPr id="202" name="Text 202"/>
          <p:cNvSpPr txBox="1"/>
          <p:nvPr/>
        </p:nvSpPr>
        <p:spPr>
          <a:xfrm>
            <a:off x="508000" y="5969000"/>
            <a:ext cx="11176000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Each threshold combination produces one 3 × 4 matrix; every consistency metric is a ratio of its cells.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508000" y="6248400"/>
            <a:ext cx="8128000" cy="381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</a:rPr>
              <a:t>[1] Kishikawa, T., Momozawa, Y., Ozeki, T., Mushiroda, T., Inohara, H., Kamatani, Y., Kubo, M., &amp; Okada, Y. (2019). Empirical evaluation of variant calling accuracy using ultra-deep whole-genome sequencing data. Scientific Reports, 9(1), 1784.</a:t>
            </a:r>
          </a:p>
        </p:txBody>
      </p:sp>
      <p:cxnSp>
        <p:nvCxnSpPr>
          <p:cNvPr id="210" name="Rule 210"/>
          <p:cNvCxnSpPr/>
          <p:nvPr/>
        </p:nvCxnSpPr>
        <p:spPr>
          <a:xfrm>
            <a:off x="508000" y="3606800"/>
            <a:ext cx="5334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cxnSp>
        <p:nvCxnSpPr>
          <p:cNvPr id="211" name="Rule 211"/>
          <p:cNvCxnSpPr/>
          <p:nvPr/>
        </p:nvCxnSpPr>
        <p:spPr>
          <a:xfrm>
            <a:off x="6350000" y="3606800"/>
            <a:ext cx="5334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1" name="Text 201"/>
          <p:cNvSpPr txBox="1"/>
          <p:nvPr/>
        </p:nvSpPr>
        <p:spPr>
          <a:xfrm>
            <a:off x="508000" y="3733800"/>
            <a:ext cx="5334000" cy="2159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Reading each cell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TN</a:t>
            </a:r>
            <a:r>
              <a:rPr lang="en-US" sz="1300" dirty="0">
                <a:solidFill>
                  <a:srgbClr val="212121"/>
                </a:solidFill>
              </a:rPr>
              <a:t>: array Ref/Ref and WGS Ref/Ref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TP</a:t>
            </a:r>
            <a:r>
              <a:rPr lang="en-US" sz="1300" dirty="0">
                <a:solidFill>
                  <a:srgbClr val="212121"/>
                </a:solidFill>
              </a:rPr>
              <a:t>: WGS matches a non-reference array genotype (Ref/Alt or Alt/Alt)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FP</a:t>
            </a:r>
            <a:r>
              <a:rPr lang="en-US" sz="1300" dirty="0">
                <a:solidFill>
                  <a:srgbClr val="212121"/>
                </a:solidFill>
              </a:rPr>
              <a:t>: WGS calls more alternate alleles than the array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FN</a:t>
            </a:r>
            <a:r>
              <a:rPr lang="en-US" sz="1300" dirty="0">
                <a:solidFill>
                  <a:srgbClr val="212121"/>
                </a:solidFill>
              </a:rPr>
              <a:t>: WGS calls fewer alternate alleles than the array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Missing</a:t>
            </a:r>
            <a:r>
              <a:rPr lang="en-US" sz="1300" dirty="0">
                <a:solidFill>
                  <a:srgbClr val="212121"/>
                </a:solidFill>
              </a:rPr>
              <a:t>: WGS No-call, whatever the array genotype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6350000" y="3733800"/>
            <a:ext cx="5334000" cy="2159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How cells are counted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Rows: array genotype (truth); columns: WGS genotype under the tested DP, GQ and AF thresholds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In WGS data, </a:t>
            </a:r>
            <a:r>
              <a:rPr lang="en-US" sz="1300" b="1" dirty="0">
                <a:solidFill>
                  <a:srgbClr val="212121"/>
                </a:solidFill>
              </a:rPr>
              <a:t>No-calls include both original missing values</a:t>
            </a:r>
            <a:r>
              <a:rPr lang="en-US" sz="1300" dirty="0">
                <a:solidFill>
                  <a:srgbClr val="212121"/>
                </a:solidFill>
              </a:rPr>
              <a:t> and genotypes reclassified as missing under each parameter threshold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confusion matrix and consistency metrics follow Kishikawa et al. (2019) [1]</a:t>
            </a:r>
          </a:p>
        </p:txBody>
      </p:sp>
    </p:spTree>
    <p:extLst>
      <p:ext uri="{BB962C8B-B14F-4D97-AF65-F5344CB8AC3E}">
        <p14:creationId xmlns:p14="http://schemas.microsoft.com/office/powerpoint/2010/main" val="3906987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186D0B1-B646-4BB9-C1FA-2EFA9E471855}"/>
              </a:ext>
            </a:extLst>
          </p:cNvPr>
          <p:cNvSpPr txBox="1"/>
          <p:nvPr/>
        </p:nvSpPr>
        <p:spPr>
          <a:xfrm>
            <a:off x="0" y="0"/>
            <a:ext cx="1143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Consistency Metrics (1): Concordance and Miss Rate</a:t>
            </a:r>
            <a:endParaRPr kumimoji="1" lang="zh-CN" altLang="en-US" sz="2400" b="1" u="sng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4E9DFA-253B-3FAC-67C1-3BC73B9405C1}"/>
              </a:ext>
            </a:extLst>
          </p:cNvPr>
          <p:cNvSpPr txBox="1"/>
          <p:nvPr/>
        </p:nvSpPr>
        <p:spPr>
          <a:xfrm>
            <a:off x="149087" y="3337337"/>
            <a:ext cx="16200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Genotype Concordance 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C9F9D59E-A33D-08FB-8DA0-51D82552DE7E}"/>
              </a:ext>
            </a:extLst>
          </p:cNvPr>
          <p:cNvGraphicFramePr>
            <a:graphicFrameLocks noGrp="1"/>
          </p:cNvGraphicFramePr>
          <p:nvPr/>
        </p:nvGraphicFramePr>
        <p:xfrm>
          <a:off x="2961218" y="1926932"/>
          <a:ext cx="2146854" cy="116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809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233680">
                <a:tc rowSpan="2" gridSpan="2"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WGS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233680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NC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23368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Array</a:t>
                      </a:r>
                      <a:endParaRPr lang="zh-CN" altLang="en-US" sz="1100" b="1" dirty="0"/>
                    </a:p>
                  </a:txBody>
                  <a:tcPr vert="vert27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616C29B1-F4E4-8083-C817-01948F5637EC}"/>
              </a:ext>
            </a:extLst>
          </p:cNvPr>
          <p:cNvGraphicFramePr>
            <a:graphicFrameLocks noGrp="1"/>
          </p:cNvGraphicFramePr>
          <p:nvPr/>
        </p:nvGraphicFramePr>
        <p:xfrm>
          <a:off x="2961218" y="4251077"/>
          <a:ext cx="2146854" cy="116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809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233680">
                <a:tc rowSpan="2" gridSpan="2"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WGS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233680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NC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23368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Array</a:t>
                      </a:r>
                      <a:endParaRPr lang="zh-CN" altLang="en-US" sz="1100" b="1" dirty="0"/>
                    </a:p>
                  </a:txBody>
                  <a:tcPr vert="vert27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CD56B1E5-ECA3-6A02-BD21-441716BC44CF}"/>
              </a:ext>
            </a:extLst>
          </p:cNvPr>
          <p:cNvGraphicFramePr>
            <a:graphicFrameLocks noGrp="1"/>
          </p:cNvGraphicFramePr>
          <p:nvPr/>
        </p:nvGraphicFramePr>
        <p:xfrm>
          <a:off x="9275879" y="1926932"/>
          <a:ext cx="2146854" cy="116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809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233680">
                <a:tc rowSpan="2" gridSpan="2"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WGS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233680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NC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23368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Array</a:t>
                      </a:r>
                      <a:endParaRPr lang="zh-CN" altLang="en-US" sz="1100" b="1" dirty="0"/>
                    </a:p>
                  </a:txBody>
                  <a:tcPr vert="vert27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F87B6278-70FD-3108-6317-223AED8302F5}"/>
              </a:ext>
            </a:extLst>
          </p:cNvPr>
          <p:cNvGraphicFramePr>
            <a:graphicFrameLocks noGrp="1"/>
          </p:cNvGraphicFramePr>
          <p:nvPr/>
        </p:nvGraphicFramePr>
        <p:xfrm>
          <a:off x="9275881" y="4251077"/>
          <a:ext cx="2131945" cy="116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233680">
                <a:tc rowSpan="2" gridSpan="2"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WGS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233680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NC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23368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Array</a:t>
                      </a:r>
                      <a:endParaRPr lang="zh-CN" altLang="en-US" sz="1100" b="1" dirty="0"/>
                    </a:p>
                  </a:txBody>
                  <a:tcPr vert="vert27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ED8C4D10-C956-C6D9-B67D-B128CDE84361}"/>
              </a:ext>
            </a:extLst>
          </p:cNvPr>
          <p:cNvSpPr/>
          <p:nvPr/>
        </p:nvSpPr>
        <p:spPr>
          <a:xfrm>
            <a:off x="3687416" y="4713798"/>
            <a:ext cx="1063487" cy="705679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0914F1-B3A8-65F9-CCEA-AED5AB564F0B}"/>
              </a:ext>
            </a:extLst>
          </p:cNvPr>
          <p:cNvSpPr/>
          <p:nvPr/>
        </p:nvSpPr>
        <p:spPr>
          <a:xfrm>
            <a:off x="3666897" y="2390328"/>
            <a:ext cx="367748" cy="241608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F65D5DA-76D2-BD2F-B269-A9B9CAAD90F8}"/>
              </a:ext>
            </a:extLst>
          </p:cNvPr>
          <p:cNvSpPr/>
          <p:nvPr/>
        </p:nvSpPr>
        <p:spPr>
          <a:xfrm>
            <a:off x="4024386" y="2631936"/>
            <a:ext cx="367748" cy="241608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D4FC25-7BAE-BE4C-A76C-4B669F7BD871}"/>
              </a:ext>
            </a:extLst>
          </p:cNvPr>
          <p:cNvSpPr/>
          <p:nvPr/>
        </p:nvSpPr>
        <p:spPr>
          <a:xfrm>
            <a:off x="4393095" y="2853724"/>
            <a:ext cx="367748" cy="241608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AE721A3A-505C-72D1-EAE8-4A356F2B289B}"/>
              </a:ext>
            </a:extLst>
          </p:cNvPr>
          <p:cNvCxnSpPr/>
          <p:nvPr/>
        </p:nvCxnSpPr>
        <p:spPr>
          <a:xfrm>
            <a:off x="2395330" y="3660504"/>
            <a:ext cx="3422375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F7D0E88-98C1-89FA-2208-99C77CB34DFF}"/>
              </a:ext>
            </a:extLst>
          </p:cNvPr>
          <p:cNvSpPr txBox="1"/>
          <p:nvPr/>
        </p:nvSpPr>
        <p:spPr>
          <a:xfrm>
            <a:off x="1769165" y="3368117"/>
            <a:ext cx="47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=</a:t>
            </a:r>
            <a:endParaRPr kumimoji="1" lang="zh-CN" altLang="en-US" sz="3200" b="1" dirty="0"/>
          </a:p>
        </p:txBody>
      </p: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BF20249C-DF59-890F-6D11-BA510833394D}"/>
              </a:ext>
            </a:extLst>
          </p:cNvPr>
          <p:cNvCxnSpPr/>
          <p:nvPr/>
        </p:nvCxnSpPr>
        <p:spPr>
          <a:xfrm>
            <a:off x="8620541" y="3664103"/>
            <a:ext cx="3422375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515EFBE-150C-4D3A-87B8-958E5CFE7C33}"/>
              </a:ext>
            </a:extLst>
          </p:cNvPr>
          <p:cNvSpPr txBox="1"/>
          <p:nvPr/>
        </p:nvSpPr>
        <p:spPr>
          <a:xfrm>
            <a:off x="7994373" y="3368118"/>
            <a:ext cx="47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=</a:t>
            </a:r>
            <a:endParaRPr kumimoji="1" lang="zh-CN" altLang="en-US" sz="32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ED5B38C-56D5-3C80-8018-C936E61A3A42}"/>
              </a:ext>
            </a:extLst>
          </p:cNvPr>
          <p:cNvSpPr txBox="1"/>
          <p:nvPr/>
        </p:nvSpPr>
        <p:spPr>
          <a:xfrm>
            <a:off x="6717031" y="3348693"/>
            <a:ext cx="1277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Genotype Miss Rate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BCBD7C7-F920-D193-B30D-80051D0D7228}"/>
              </a:ext>
            </a:extLst>
          </p:cNvPr>
          <p:cNvSpPr/>
          <p:nvPr/>
        </p:nvSpPr>
        <p:spPr>
          <a:xfrm>
            <a:off x="11069706" y="2399946"/>
            <a:ext cx="353027" cy="673691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601B965-4DB4-4708-B90B-699BF7C287D4}"/>
              </a:ext>
            </a:extLst>
          </p:cNvPr>
          <p:cNvSpPr/>
          <p:nvPr/>
        </p:nvSpPr>
        <p:spPr>
          <a:xfrm>
            <a:off x="9963978" y="4721220"/>
            <a:ext cx="1458755" cy="705016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1247C472-CC8A-7926-8113-96EA63A3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11</a:t>
            </a:fld>
            <a:endParaRPr kumimoji="1" lang="zh-CN" altLang="en-US"/>
          </a:p>
        </p:txBody>
      </p:sp>
      <p:sp>
        <p:nvSpPr>
          <p:cNvPr id="201" name="Text 201"/>
          <p:cNvSpPr txBox="1"/>
          <p:nvPr/>
        </p:nvSpPr>
        <p:spPr>
          <a:xfrm>
            <a:off x="508000" y="762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Each metric is the sum of the highlighted cells in the numerator matrix divided by the sum in the denominator matrix.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212121"/>
                </a:solidFill>
              </a:rPr>
              <a:t>Concordance and miss rate come from the same matrix, so any threshold change moves both at once.</a:t>
            </a:r>
          </a:p>
        </p:txBody>
      </p:sp>
    </p:spTree>
    <p:extLst>
      <p:ext uri="{BB962C8B-B14F-4D97-AF65-F5344CB8AC3E}">
        <p14:creationId xmlns:p14="http://schemas.microsoft.com/office/powerpoint/2010/main" val="1959493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26A74-E4AC-8208-5039-F496413E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5A50391B-9815-3BE6-2C21-F4F7A6F4A050}"/>
              </a:ext>
            </a:extLst>
          </p:cNvPr>
          <p:cNvSpPr txBox="1"/>
          <p:nvPr/>
        </p:nvSpPr>
        <p:spPr>
          <a:xfrm>
            <a:off x="149087" y="3337337"/>
            <a:ext cx="16200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False Positive </a:t>
            </a:r>
          </a:p>
          <a:p>
            <a:pPr algn="ctr"/>
            <a:r>
              <a:rPr lang="en-US" altLang="zh-CN" b="1" dirty="0"/>
              <a:t>Rate</a:t>
            </a:r>
            <a:endParaRPr lang="zh-CN" altLang="en-US" dirty="0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2091449C-465E-0F82-9B64-EA1EDED0626F}"/>
              </a:ext>
            </a:extLst>
          </p:cNvPr>
          <p:cNvGraphicFramePr>
            <a:graphicFrameLocks noGrp="1"/>
          </p:cNvGraphicFramePr>
          <p:nvPr/>
        </p:nvGraphicFramePr>
        <p:xfrm>
          <a:off x="2961218" y="1837525"/>
          <a:ext cx="2146854" cy="116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809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233680">
                <a:tc rowSpan="2" gridSpan="2"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WGS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233680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NC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23368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Array</a:t>
                      </a:r>
                      <a:endParaRPr lang="zh-CN" altLang="en-US" sz="1100" b="1" dirty="0"/>
                    </a:p>
                  </a:txBody>
                  <a:tcPr vert="vert27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678905A9-67F6-3A16-1CB7-A43528D86AFB}"/>
              </a:ext>
            </a:extLst>
          </p:cNvPr>
          <p:cNvGraphicFramePr>
            <a:graphicFrameLocks noGrp="1"/>
          </p:cNvGraphicFramePr>
          <p:nvPr/>
        </p:nvGraphicFramePr>
        <p:xfrm>
          <a:off x="2961218" y="4251077"/>
          <a:ext cx="2146854" cy="116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809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233680">
                <a:tc rowSpan="2" gridSpan="2"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WGS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233680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NC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23368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Array</a:t>
                      </a:r>
                      <a:endParaRPr lang="zh-CN" altLang="en-US" sz="1100" b="1" dirty="0"/>
                    </a:p>
                  </a:txBody>
                  <a:tcPr vert="vert27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CD4B530-2B8B-472D-C4BF-AA5F7955CCBD}"/>
              </a:ext>
            </a:extLst>
          </p:cNvPr>
          <p:cNvGraphicFramePr>
            <a:graphicFrameLocks noGrp="1"/>
          </p:cNvGraphicFramePr>
          <p:nvPr/>
        </p:nvGraphicFramePr>
        <p:xfrm>
          <a:off x="9275879" y="1837525"/>
          <a:ext cx="2146854" cy="116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809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233680">
                <a:tc rowSpan="2" gridSpan="2"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WGS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233680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NC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23368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Array</a:t>
                      </a:r>
                      <a:endParaRPr lang="zh-CN" altLang="en-US" sz="1100" b="1" dirty="0"/>
                    </a:p>
                  </a:txBody>
                  <a:tcPr vert="vert27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CDAC6D18-EF60-1603-BB5C-D54A22CF1D0D}"/>
              </a:ext>
            </a:extLst>
          </p:cNvPr>
          <p:cNvGraphicFramePr>
            <a:graphicFrameLocks noGrp="1"/>
          </p:cNvGraphicFramePr>
          <p:nvPr/>
        </p:nvGraphicFramePr>
        <p:xfrm>
          <a:off x="9275881" y="4251077"/>
          <a:ext cx="2131945" cy="116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1765442584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944532839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590997961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716510348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70195997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3668152658"/>
                    </a:ext>
                  </a:extLst>
                </a:gridCol>
              </a:tblGrid>
              <a:tr h="233680">
                <a:tc rowSpan="2" gridSpan="2"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WGS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716"/>
                  </a:ext>
                </a:extLst>
              </a:tr>
              <a:tr h="233680">
                <a:tc gridSpan="2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NC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848024"/>
                  </a:ext>
                </a:extLst>
              </a:tr>
              <a:tr h="23368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Array</a:t>
                      </a:r>
                      <a:endParaRPr lang="zh-CN" altLang="en-US" sz="1100" b="1" dirty="0"/>
                    </a:p>
                  </a:txBody>
                  <a:tcPr vert="vert27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5023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RA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55957"/>
                  </a:ext>
                </a:extLst>
              </a:tr>
              <a:tr h="233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/>
                        <a:t>AA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b="1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1478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8C26FD5A-386B-5E99-1A0F-007327BC8A36}"/>
              </a:ext>
            </a:extLst>
          </p:cNvPr>
          <p:cNvSpPr/>
          <p:nvPr/>
        </p:nvSpPr>
        <p:spPr>
          <a:xfrm>
            <a:off x="3685628" y="4713798"/>
            <a:ext cx="1063487" cy="705679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98D8F1-7C87-FAAE-892F-C422DA36AB0C}"/>
              </a:ext>
            </a:extLst>
          </p:cNvPr>
          <p:cNvSpPr/>
          <p:nvPr/>
        </p:nvSpPr>
        <p:spPr>
          <a:xfrm>
            <a:off x="4383155" y="2289789"/>
            <a:ext cx="367748" cy="241608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69FD31-9219-EEC7-8A32-1785F262DF0E}"/>
              </a:ext>
            </a:extLst>
          </p:cNvPr>
          <p:cNvSpPr/>
          <p:nvPr/>
        </p:nvSpPr>
        <p:spPr>
          <a:xfrm>
            <a:off x="4025347" y="2289789"/>
            <a:ext cx="367748" cy="241608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51F0174-3A9C-C21F-E50D-8A54807A1682}"/>
              </a:ext>
            </a:extLst>
          </p:cNvPr>
          <p:cNvSpPr/>
          <p:nvPr/>
        </p:nvSpPr>
        <p:spPr>
          <a:xfrm>
            <a:off x="4383155" y="2531399"/>
            <a:ext cx="367748" cy="241608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62A875CA-1A81-4AA3-9066-492F21B25520}"/>
              </a:ext>
            </a:extLst>
          </p:cNvPr>
          <p:cNvCxnSpPr/>
          <p:nvPr/>
        </p:nvCxnSpPr>
        <p:spPr>
          <a:xfrm>
            <a:off x="2395330" y="3660504"/>
            <a:ext cx="3422375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4F574C4-4356-7F2F-62E3-D58F3A1C1B06}"/>
              </a:ext>
            </a:extLst>
          </p:cNvPr>
          <p:cNvSpPr txBox="1"/>
          <p:nvPr/>
        </p:nvSpPr>
        <p:spPr>
          <a:xfrm>
            <a:off x="1769165" y="3368117"/>
            <a:ext cx="47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=</a:t>
            </a:r>
            <a:endParaRPr kumimoji="1" lang="zh-CN" altLang="en-US" sz="3200" b="1" dirty="0"/>
          </a:p>
        </p:txBody>
      </p: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51E2DB26-C1D4-938B-D1CE-F530B98D69D3}"/>
              </a:ext>
            </a:extLst>
          </p:cNvPr>
          <p:cNvCxnSpPr/>
          <p:nvPr/>
        </p:nvCxnSpPr>
        <p:spPr>
          <a:xfrm>
            <a:off x="8620541" y="3664103"/>
            <a:ext cx="3422375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F19D1E2-E658-4D47-31FE-E6F00BBE7E49}"/>
              </a:ext>
            </a:extLst>
          </p:cNvPr>
          <p:cNvSpPr txBox="1"/>
          <p:nvPr/>
        </p:nvSpPr>
        <p:spPr>
          <a:xfrm>
            <a:off x="7994373" y="3368118"/>
            <a:ext cx="47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=</a:t>
            </a:r>
            <a:endParaRPr kumimoji="1" lang="zh-CN" altLang="en-US" sz="3200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578618B-01ED-696E-12CB-EDBCC657C113}"/>
              </a:ext>
            </a:extLst>
          </p:cNvPr>
          <p:cNvSpPr txBox="1"/>
          <p:nvPr/>
        </p:nvSpPr>
        <p:spPr>
          <a:xfrm>
            <a:off x="6406974" y="3368117"/>
            <a:ext cx="17330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False Negative </a:t>
            </a:r>
          </a:p>
          <a:p>
            <a:pPr algn="ctr"/>
            <a:r>
              <a:rPr lang="en-US" altLang="zh-CN" b="1" dirty="0"/>
              <a:t>Rate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0A7D3F0-3387-D56D-39CD-25FCD946F9D8}"/>
              </a:ext>
            </a:extLst>
          </p:cNvPr>
          <p:cNvSpPr/>
          <p:nvPr/>
        </p:nvSpPr>
        <p:spPr>
          <a:xfrm>
            <a:off x="9988826" y="2546622"/>
            <a:ext cx="353027" cy="220857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25BD7E6-5F94-992A-051F-0ABB83A280CA}"/>
              </a:ext>
            </a:extLst>
          </p:cNvPr>
          <p:cNvSpPr/>
          <p:nvPr/>
        </p:nvSpPr>
        <p:spPr>
          <a:xfrm>
            <a:off x="9962369" y="4727979"/>
            <a:ext cx="1130072" cy="705679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B04958-D6FB-2CB2-465B-090883870A8D}"/>
              </a:ext>
            </a:extLst>
          </p:cNvPr>
          <p:cNvSpPr/>
          <p:nvPr/>
        </p:nvSpPr>
        <p:spPr>
          <a:xfrm>
            <a:off x="9996280" y="2773007"/>
            <a:ext cx="353027" cy="220857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A5CBEB-7489-4A50-DA33-9251DC6F3434}"/>
              </a:ext>
            </a:extLst>
          </p:cNvPr>
          <p:cNvSpPr/>
          <p:nvPr/>
        </p:nvSpPr>
        <p:spPr>
          <a:xfrm>
            <a:off x="10356761" y="2773007"/>
            <a:ext cx="353027" cy="220857"/>
          </a:xfrm>
          <a:prstGeom prst="rect">
            <a:avLst/>
          </a:prstGeom>
          <a:solidFill>
            <a:srgbClr val="FF0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D54C7-6D13-A582-13B2-D73B0C0E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12</a:t>
            </a:fld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E0633C-553C-E93F-823C-7D3C99BEFB14}"/>
              </a:ext>
            </a:extLst>
          </p:cNvPr>
          <p:cNvSpPr txBox="1"/>
          <p:nvPr/>
        </p:nvSpPr>
        <p:spPr>
          <a:xfrm>
            <a:off x="0" y="0"/>
            <a:ext cx="1143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Consistency Metrics (2): False Positive and False Negative Rates</a:t>
            </a:r>
            <a:endParaRPr kumimoji="1" lang="zh-CN" altLang="en-US" sz="2400" b="1" u="sng" dirty="0"/>
          </a:p>
        </p:txBody>
      </p:sp>
      <p:sp>
        <p:nvSpPr>
          <p:cNvPr id="201" name="Text 201"/>
          <p:cNvSpPr txBox="1"/>
          <p:nvPr/>
        </p:nvSpPr>
        <p:spPr>
          <a:xfrm>
            <a:off x="508000" y="762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Same reading as the previous slide: highlighted numerator cells over highlighted denominator cells.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212121"/>
                </a:solidFill>
              </a:rPr>
              <a:t>False positive and false negative rates split discordant calls by direction, which concordance alone cannot show.</a:t>
            </a:r>
          </a:p>
        </p:txBody>
      </p:sp>
    </p:spTree>
    <p:extLst>
      <p:ext uri="{BB962C8B-B14F-4D97-AF65-F5344CB8AC3E}">
        <p14:creationId xmlns:p14="http://schemas.microsoft.com/office/powerpoint/2010/main" val="1289487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C4117-F5B7-2C23-E186-C39A85E5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13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938541-2B84-70F1-9644-36B7B8D6D77E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Higher DP and GQ Raise Concordance; Miss Rate Climbs Past DP 10</a:t>
            </a:r>
            <a:endParaRPr kumimoji="1" lang="zh-CN" altLang="en-US" sz="2400" b="1" u="sng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24EB27-AECC-3B00-8F43-9EBF2EA78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640"/>
          <a:stretch>
            <a:fillRect/>
          </a:stretch>
        </p:blipFill>
        <p:spPr>
          <a:xfrm>
            <a:off x="177800" y="838200"/>
            <a:ext cx="11849100" cy="3606800"/>
          </a:xfrm>
          <a:prstGeom prst="rect">
            <a:avLst/>
          </a:prstGeom>
        </p:spPr>
      </p:pic>
      <p:sp>
        <p:nvSpPr>
          <p:cNvPr id="201" name="Text 201"/>
          <p:cNvSpPr txBox="1"/>
          <p:nvPr/>
        </p:nvSpPr>
        <p:spPr>
          <a:xfrm>
            <a:off x="508000" y="508000"/>
            <a:ext cx="11176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</a:rPr>
              <a:t>AF range fixed at (0.20, 0.80); autosomes, all platforms; DP threshold 1–30, GQ threshold 10 / 20 / 30.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4597400"/>
            <a:ext cx="5334000" cy="1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Genotype concordance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concordance rate </a:t>
            </a:r>
            <a:r>
              <a:rPr lang="en-US" sz="1300" b="1" dirty="0">
                <a:solidFill>
                  <a:srgbClr val="212121"/>
                </a:solidFill>
              </a:rPr>
              <a:t>steadily increases</a:t>
            </a:r>
            <a:r>
              <a:rPr lang="en-US" sz="1300" dirty="0">
                <a:solidFill>
                  <a:srgbClr val="212121"/>
                </a:solidFill>
              </a:rPr>
              <a:t> with higher DP thresholds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Higher GQ thresholds give a </a:t>
            </a:r>
            <a:r>
              <a:rPr lang="en-US" sz="1300" b="1" dirty="0">
                <a:solidFill>
                  <a:srgbClr val="212121"/>
                </a:solidFill>
              </a:rPr>
              <a:t>better baseline</a:t>
            </a:r>
            <a:r>
              <a:rPr lang="en-US" sz="1300" dirty="0">
                <a:solidFill>
                  <a:srgbClr val="212121"/>
                </a:solidFill>
              </a:rPr>
              <a:t> concordance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All settings converge to nearly 100% concordance at high DP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6350000" y="4597400"/>
            <a:ext cx="5334000" cy="1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Genotype miss rate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Remains </a:t>
            </a:r>
            <a:r>
              <a:rPr lang="en-US" sz="1300" b="1" dirty="0">
                <a:solidFill>
                  <a:srgbClr val="212121"/>
                </a:solidFill>
              </a:rPr>
              <a:t>low</a:t>
            </a:r>
            <a:r>
              <a:rPr lang="en-US" sz="1300" dirty="0">
                <a:solidFill>
                  <a:srgbClr val="212121"/>
                </a:solidFill>
              </a:rPr>
              <a:t> at low DP thresholds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Begins to </a:t>
            </a:r>
            <a:r>
              <a:rPr lang="en-US" sz="1300" b="1" dirty="0">
                <a:solidFill>
                  <a:srgbClr val="212121"/>
                </a:solidFill>
              </a:rPr>
              <a:t>rise once the DP threshold exceeds ~10</a:t>
            </a:r>
            <a:r>
              <a:rPr lang="en-US" sz="1300" dirty="0">
                <a:solidFill>
                  <a:srgbClr val="212121"/>
                </a:solidFill>
              </a:rPr>
              <a:t>, eventually reaching about 100% by DP 30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Above DP ≈ 10, further concordance gains are small while the miss rate rises fast.</a:t>
            </a:r>
          </a:p>
        </p:txBody>
      </p:sp>
    </p:spTree>
    <p:extLst>
      <p:ext uri="{BB962C8B-B14F-4D97-AF65-F5344CB8AC3E}">
        <p14:creationId xmlns:p14="http://schemas.microsoft.com/office/powerpoint/2010/main" val="2690284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207083-FC73-7E3E-6999-7A685A41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14</a:t>
            </a:fld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0A70596-ACB7-CA26-9993-DD1DC56B9210}"/>
              </a:ext>
            </a:extLst>
          </p:cNvPr>
          <p:cNvGrpSpPr/>
          <p:nvPr/>
        </p:nvGrpSpPr>
        <p:grpSpPr>
          <a:xfrm>
            <a:off x="175800" y="838200"/>
            <a:ext cx="11840400" cy="3587836"/>
            <a:chOff x="175800" y="1320252"/>
            <a:chExt cx="11840400" cy="358783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E96353C-C8F6-EA4D-126D-0C1B1F17A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5464"/>
            <a:stretch>
              <a:fillRect/>
            </a:stretch>
          </p:blipFill>
          <p:spPr>
            <a:xfrm>
              <a:off x="175800" y="1949911"/>
              <a:ext cx="11840400" cy="2958177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0F20FE5-7C44-5EC5-0ECE-256F7AA29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4206"/>
            <a:stretch>
              <a:fillRect/>
            </a:stretch>
          </p:blipFill>
          <p:spPr>
            <a:xfrm>
              <a:off x="175800" y="1320252"/>
              <a:ext cx="11840400" cy="384815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FAC1200-259A-CDD0-8CDA-49FBADA516C9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Higher DP and GQ Lower False Positive and False Negative Rates</a:t>
            </a:r>
            <a:endParaRPr kumimoji="1" lang="zh-CN" altLang="en-US" sz="2400" b="1" u="sng" dirty="0"/>
          </a:p>
        </p:txBody>
      </p:sp>
      <p:sp>
        <p:nvSpPr>
          <p:cNvPr id="201" name="Text 201"/>
          <p:cNvSpPr txBox="1"/>
          <p:nvPr/>
        </p:nvSpPr>
        <p:spPr>
          <a:xfrm>
            <a:off x="508000" y="508000"/>
            <a:ext cx="11176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</a:rPr>
              <a:t>AF range fixed at (0.20, 0.80); autosomes, all platforms; DP threshold 1–30, GQ threshold 10 / 20 / 30.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4597400"/>
            <a:ext cx="5334000" cy="1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False positive rate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Initial values </a:t>
            </a:r>
            <a:r>
              <a:rPr lang="en-US" sz="1300" b="1" dirty="0">
                <a:solidFill>
                  <a:srgbClr val="212121"/>
                </a:solidFill>
              </a:rPr>
              <a:t>decrease as the GQ threshold increases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Continuously decreases</a:t>
            </a:r>
            <a:r>
              <a:rPr lang="en-US" sz="1300" dirty="0">
                <a:solidFill>
                  <a:srgbClr val="212121"/>
                </a:solidFill>
              </a:rPr>
              <a:t> with increasing DP threshold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6350000" y="4597400"/>
            <a:ext cx="5334000" cy="1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False negative rate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Shows </a:t>
            </a:r>
            <a:r>
              <a:rPr lang="en-US" sz="1300" b="1" dirty="0">
                <a:solidFill>
                  <a:srgbClr val="212121"/>
                </a:solidFill>
              </a:rPr>
              <a:t>similar trends</a:t>
            </a:r>
            <a:r>
              <a:rPr lang="en-US" sz="1300" dirty="0">
                <a:solidFill>
                  <a:srgbClr val="212121"/>
                </a:solidFill>
              </a:rPr>
              <a:t> to the false positive rate: a lower starting value at higher GQ, then a steady decline as the DP threshold rises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Both error rates fall with stricter DP and GQ, and the GQ settings converge above DP ≈ 10.</a:t>
            </a:r>
          </a:p>
        </p:txBody>
      </p:sp>
    </p:spTree>
    <p:extLst>
      <p:ext uri="{BB962C8B-B14F-4D97-AF65-F5344CB8AC3E}">
        <p14:creationId xmlns:p14="http://schemas.microsoft.com/office/powerpoint/2010/main" val="3028066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1D17B9-0058-530F-B497-471FC7F6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15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C4BD56-A7E5-0677-9E63-6EAAE48B199D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Tighter AF Bounds Cut HOMREF&gt;HET Errors, Mostly at 15x</a:t>
            </a:r>
            <a:endParaRPr kumimoji="1" lang="zh-CN" altLang="en-US" sz="2400" b="1" u="sng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F74C44-7638-F4C3-92FD-F05CDB701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838200"/>
            <a:ext cx="7772400" cy="5029200"/>
          </a:xfrm>
          <a:prstGeom prst="rect">
            <a:avLst/>
          </a:prstGeom>
        </p:spPr>
      </p:pic>
      <p:sp>
        <p:nvSpPr>
          <p:cNvPr id="201" name="Text 201"/>
          <p:cNvSpPr txBox="1"/>
          <p:nvPr/>
        </p:nvSpPr>
        <p:spPr>
          <a:xfrm>
            <a:off x="508000" y="508000"/>
            <a:ext cx="11176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</a:rPr>
              <a:t>DP threshold 8, GQ threshold 20; LAF (low allele-fraction bound) by HAF (high bound); top: counts, bottom: rates.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8255000" y="1016000"/>
            <a:ext cx="3556000" cy="4699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2121"/>
                </a:solidFill>
              </a:rPr>
              <a:t>The heatmaps show how the HOMREF&gt;HET conversion rate changes as the AF bounds vary.</a:t>
            </a:r>
          </a:p>
          <a:p>
            <a:pPr marL="0" indent="0">
              <a:lnSpc>
                <a:spcPct val="105000"/>
              </a:lnSpc>
              <a:spcBef>
                <a:spcPts val="11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Effect of the AF bounds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Stricter AF settings</a:t>
            </a:r>
            <a:r>
              <a:rPr lang="en-US" sz="1300" dirty="0">
                <a:solidFill>
                  <a:srgbClr val="212121"/>
                </a:solidFill>
              </a:rPr>
              <a:t> (higher LAF, lower HAF) notably decrease the conversion rate</a:t>
            </a:r>
          </a:p>
          <a:p>
            <a:pPr marL="0" indent="0">
              <a:lnSpc>
                <a:spcPct val="105000"/>
              </a:lnSpc>
              <a:spcBef>
                <a:spcPts val="11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Platform differences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30x</a:t>
            </a:r>
            <a:r>
              <a:rPr lang="en-US" sz="1300" dirty="0">
                <a:solidFill>
                  <a:srgbClr val="212121"/>
                </a:solidFill>
              </a:rPr>
              <a:t> samples genotype more consistently as the thresholds change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15x</a:t>
            </a:r>
            <a:r>
              <a:rPr lang="en-US" sz="1300" dirty="0">
                <a:solidFill>
                  <a:srgbClr val="212121"/>
                </a:solidFill>
              </a:rPr>
              <a:t> samples show higher misclassification under more lenient thresholds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Tighter AF bounds </a:t>
            </a:r>
            <a:r>
              <a:rPr lang="en-US" sz="1300" b="1" dirty="0">
                <a:solidFill>
                  <a:srgbClr val="212121"/>
                </a:solidFill>
              </a:rPr>
              <a:t>reduce the difference</a:t>
            </a:r>
            <a:r>
              <a:rPr lang="en-US" sz="1300" dirty="0">
                <a:solidFill>
                  <a:srgbClr val="212121"/>
                </a:solidFill>
              </a:rPr>
              <a:t> between 15x and 30x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Tight AF bounds matter most for 15x samples, where loose bounds let reference homozygotes through as heterozygotes.</a:t>
            </a:r>
          </a:p>
        </p:txBody>
      </p:sp>
    </p:spTree>
    <p:extLst>
      <p:ext uri="{BB962C8B-B14F-4D97-AF65-F5344CB8AC3E}">
        <p14:creationId xmlns:p14="http://schemas.microsoft.com/office/powerpoint/2010/main" val="873282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70B38B-BAF5-C784-E5C2-463F6FDB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16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00E598-BB09-AD61-7913-2A55C0094CDF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Tighter AF Bounds Also Lose True HET&gt;HET Calls</a:t>
            </a:r>
            <a:endParaRPr kumimoji="1" lang="zh-CN" altLang="en-US" sz="2400" b="1" u="sng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755E0C8-DE96-2F21-83E0-3FBC94B3F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838200"/>
            <a:ext cx="7772400" cy="5067300"/>
          </a:xfrm>
          <a:prstGeom prst="rect">
            <a:avLst/>
          </a:prstGeom>
        </p:spPr>
      </p:pic>
      <p:sp>
        <p:nvSpPr>
          <p:cNvPr id="201" name="Text 201"/>
          <p:cNvSpPr txBox="1"/>
          <p:nvPr/>
        </p:nvSpPr>
        <p:spPr>
          <a:xfrm>
            <a:off x="508000" y="508000"/>
            <a:ext cx="11176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</a:rPr>
              <a:t>DP threshold 8, GQ threshold 20; LAF (low allele-fraction bound) by HAF (high bound); top: counts, bottom: rates.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8255000" y="1016000"/>
            <a:ext cx="3556000" cy="4699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2121"/>
                </a:solidFill>
              </a:rPr>
              <a:t>The heatmaps show how the rate of correctly identified HET&gt;HET calls changes as the AF bounds vary.</a:t>
            </a:r>
          </a:p>
          <a:p>
            <a:pPr marL="0" indent="0">
              <a:lnSpc>
                <a:spcPct val="105000"/>
              </a:lnSpc>
              <a:spcBef>
                <a:spcPts val="11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Effect of the AF bounds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Implementing </a:t>
            </a:r>
            <a:r>
              <a:rPr lang="en-US" sz="1300" b="1" dirty="0">
                <a:solidFill>
                  <a:srgbClr val="212121"/>
                </a:solidFill>
              </a:rPr>
              <a:t>stricter AF thresholds</a:t>
            </a:r>
            <a:r>
              <a:rPr lang="en-US" sz="1300" dirty="0">
                <a:solidFill>
                  <a:srgbClr val="212121"/>
                </a:solidFill>
              </a:rPr>
              <a:t> (higher LAF, lower HAF) leads to </a:t>
            </a:r>
            <a:r>
              <a:rPr lang="en-US" sz="1300" b="1" dirty="0">
                <a:solidFill>
                  <a:srgbClr val="212121"/>
                </a:solidFill>
              </a:rPr>
              <a:t>fewer correctly identified HET&gt;HET cases</a:t>
            </a:r>
          </a:p>
          <a:p>
            <a:pPr marL="0" indent="0">
              <a:lnSpc>
                <a:spcPct val="105000"/>
              </a:lnSpc>
              <a:spcBef>
                <a:spcPts val="11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Cost of tight bounds</a:t>
            </a:r>
          </a:p>
          <a:p>
            <a:pPr marL="171450" indent="-171450">
              <a:lnSpc>
                <a:spcPct val="105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same settings that remove HOMREF&gt;HET errors on the previous slide also discard true heterozygous calls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AF bounds trade false heterozygous calls against lost true ones, so they cannot simply be set as tight as possible.</a:t>
            </a:r>
          </a:p>
        </p:txBody>
      </p:sp>
    </p:spTree>
    <p:extLst>
      <p:ext uri="{BB962C8B-B14F-4D97-AF65-F5344CB8AC3E}">
        <p14:creationId xmlns:p14="http://schemas.microsoft.com/office/powerpoint/2010/main" val="364140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9763E8-7029-20AF-55D7-72EDF0A5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17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E352C1-5AFE-81AE-E4A4-7C29F0792332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Stricter Thresholds Trade Data Retention for Accuracy</a:t>
            </a:r>
            <a:endParaRPr kumimoji="1" lang="zh-CN" altLang="en-US" sz="2400" b="1" u="sng" dirty="0"/>
          </a:p>
        </p:txBody>
      </p:sp>
      <p:pic>
        <p:nvPicPr>
          <p:cNvPr id="5124" name="Picture 4" descr="Prebid 2024 — Trade-offs. Most software development is about… | by Emil  Hein | Ad-tech | Medium">
            <a:extLst>
              <a:ext uri="{FF2B5EF4-FFF2-40B4-BE49-F238E27FC236}">
                <a16:creationId xmlns:a16="http://schemas.microsoft.com/office/drawing/2014/main" id="{FD1F8A29-4D76-D971-FF91-2006D26A6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0" y="1397000"/>
            <a:ext cx="4546600" cy="386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" name="Text 201"/>
          <p:cNvSpPr txBox="1"/>
          <p:nvPr/>
        </p:nvSpPr>
        <p:spPr>
          <a:xfrm>
            <a:off x="762000" y="1397000"/>
            <a:ext cx="5842000" cy="381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3864"/>
                </a:solidFill>
              </a:rPr>
              <a:t>What the threshold scans show</a:t>
            </a:r>
          </a:p>
          <a:p>
            <a:pPr marL="171450" indent="-17145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Stricter thresholds for DP, GQ and AF </a:t>
            </a:r>
            <a:r>
              <a:rPr lang="en-US" sz="1400" b="1" dirty="0">
                <a:solidFill>
                  <a:srgbClr val="212121"/>
                </a:solidFill>
              </a:rPr>
              <a:t>improve genotype call accuracy</a:t>
            </a:r>
            <a:r>
              <a:rPr lang="en-US" sz="1400" dirty="0">
                <a:solidFill>
                  <a:srgbClr val="212121"/>
                </a:solidFill>
              </a:rPr>
              <a:t>: higher concordance, lower false positive and false negative rates</a:t>
            </a:r>
          </a:p>
          <a:p>
            <a:pPr marL="171450" indent="-17145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They also </a:t>
            </a:r>
            <a:r>
              <a:rPr lang="en-US" sz="1400" b="1" dirty="0">
                <a:solidFill>
                  <a:srgbClr val="212121"/>
                </a:solidFill>
              </a:rPr>
              <a:t>filter more data</a:t>
            </a:r>
            <a:r>
              <a:rPr lang="en-US" sz="1400" dirty="0">
                <a:solidFill>
                  <a:srgbClr val="212121"/>
                </a:solidFill>
              </a:rPr>
              <a:t>, which raises the genotype miss rate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What we need</a:t>
            </a:r>
          </a:p>
          <a:p>
            <a:pPr marL="171450" indent="-17145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In practical use, we must find a </a:t>
            </a:r>
            <a:r>
              <a:rPr lang="en-US" sz="1400" b="1" dirty="0">
                <a:solidFill>
                  <a:srgbClr val="212121"/>
                </a:solidFill>
              </a:rPr>
              <a:t>balance between accuracy and data retention</a:t>
            </a:r>
          </a:p>
          <a:p>
            <a:pPr marL="171450" indent="-171450">
              <a:lnSpc>
                <a:spcPct val="11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This is a </a:t>
            </a:r>
            <a:r>
              <a:rPr lang="en-US" sz="1400" b="1" dirty="0">
                <a:solidFill>
                  <a:srgbClr val="212121"/>
                </a:solidFill>
              </a:rPr>
              <a:t>multi-objective optimization</a:t>
            </a:r>
            <a:r>
              <a:rPr lang="en-US" sz="1400" dirty="0">
                <a:solidFill>
                  <a:srgbClr val="212121"/>
                </a:solidFill>
              </a:rPr>
              <a:t> problem, introduced on the next slides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No single threshold maximizes accuracy and retention together; the choice is a trade-off.</a:t>
            </a:r>
          </a:p>
        </p:txBody>
      </p:sp>
    </p:spTree>
    <p:extLst>
      <p:ext uri="{BB962C8B-B14F-4D97-AF65-F5344CB8AC3E}">
        <p14:creationId xmlns:p14="http://schemas.microsoft.com/office/powerpoint/2010/main" val="3997645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8704A8-E4EE-06A5-56DE-56B1405BC135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Threshold Choice Is a Two-Objective Problem</a:t>
            </a:r>
            <a:endParaRPr lang="zh-CN" altLang="en-US" sz="2400" b="1" u="sng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1B6419-6BE7-0DE2-A84C-9D08EC1B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18</a:t>
            </a:fld>
            <a:endParaRPr kumimoji="1" lang="zh-CN" altLang="en-US"/>
          </a:p>
        </p:txBody>
      </p:sp>
      <p:sp>
        <p:nvSpPr>
          <p:cNvPr id="200" name="Text 200"/>
          <p:cNvSpPr txBox="1"/>
          <p:nvPr/>
        </p:nvSpPr>
        <p:spPr>
          <a:xfrm>
            <a:off x="508000" y="711200"/>
            <a:ext cx="111760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12121"/>
                </a:solidFill>
              </a:rPr>
              <a:t>Multi-objective optimization identifies the best solutions when several goals compete. Unlike single-objective problems, which usually have one clear solution, multi-objective problems have a </a:t>
            </a:r>
            <a:r>
              <a:rPr lang="en-US" sz="1400" b="1" dirty="0">
                <a:solidFill>
                  <a:srgbClr val="212121"/>
                </a:solidFill>
              </a:rPr>
              <a:t>set of optimal solutions, the Pareto solutions</a:t>
            </a:r>
            <a:r>
              <a:rPr lang="en-US" sz="1400" dirty="0">
                <a:solidFill>
                  <a:srgbClr val="212121"/>
                </a:solidFill>
              </a:rPr>
              <a:t>, where improving one objective typically requires sacrificing another.</a:t>
            </a:r>
          </a:p>
          <a:p>
            <a:pPr marL="0" indent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212121"/>
                </a:solidFill>
              </a:rPr>
              <a:t>In genotype QC we must balance two metrics: </a:t>
            </a:r>
            <a:r>
              <a:rPr lang="en-US" sz="1400" b="1" dirty="0">
                <a:solidFill>
                  <a:srgbClr val="212121"/>
                </a:solidFill>
              </a:rPr>
              <a:t>genotype concordance</a:t>
            </a:r>
            <a:r>
              <a:rPr lang="en-US" sz="1400" dirty="0">
                <a:solidFill>
                  <a:srgbClr val="212121"/>
                </a:solidFill>
              </a:rPr>
              <a:t> and </a:t>
            </a:r>
            <a:r>
              <a:rPr lang="en-US" sz="1400" b="1" dirty="0">
                <a:solidFill>
                  <a:srgbClr val="212121"/>
                </a:solidFill>
              </a:rPr>
              <a:t>genotype miss rate</a:t>
            </a:r>
            <a:r>
              <a:rPr lang="en-US" sz="1400" dirty="0">
                <a:solidFill>
                  <a:srgbClr val="212121"/>
                </a:solidFill>
              </a:rPr>
              <a:t>.</a:t>
            </a:r>
          </a:p>
        </p:txBody>
      </p:sp>
      <p:cxnSp>
        <p:nvCxnSpPr>
          <p:cNvPr id="210" name="Rule 210"/>
          <p:cNvCxnSpPr/>
          <p:nvPr/>
        </p:nvCxnSpPr>
        <p:spPr>
          <a:xfrm>
            <a:off x="508000" y="1905000"/>
            <a:ext cx="3429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1" name="Text 201"/>
          <p:cNvSpPr txBox="1"/>
          <p:nvPr/>
        </p:nvSpPr>
        <p:spPr>
          <a:xfrm>
            <a:off x="508000" y="2057400"/>
            <a:ext cx="3429000" cy="368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3864"/>
                </a:solidFill>
              </a:rPr>
              <a:t>Two goals in genotype QC</a:t>
            </a: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Maximize</a:t>
            </a:r>
            <a:r>
              <a:rPr lang="en-US" sz="1400" dirty="0">
                <a:solidFill>
                  <a:srgbClr val="212121"/>
                </a:solidFill>
              </a:rPr>
              <a:t> genotype concordance</a:t>
            </a: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Minimize</a:t>
            </a:r>
            <a:r>
              <a:rPr lang="en-US" sz="1400" dirty="0">
                <a:solidFill>
                  <a:srgbClr val="212121"/>
                </a:solidFill>
              </a:rPr>
              <a:t> genotype miss rate</a:t>
            </a:r>
          </a:p>
        </p:txBody>
      </p:sp>
      <p:cxnSp>
        <p:nvCxnSpPr>
          <p:cNvPr id="211" name="Rule 211"/>
          <p:cNvCxnSpPr/>
          <p:nvPr/>
        </p:nvCxnSpPr>
        <p:spPr>
          <a:xfrm>
            <a:off x="4318000" y="1905000"/>
            <a:ext cx="3429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2" name="Text 202"/>
          <p:cNvSpPr txBox="1"/>
          <p:nvPr/>
        </p:nvSpPr>
        <p:spPr>
          <a:xfrm>
            <a:off x="4318000" y="2057400"/>
            <a:ext cx="3429000" cy="368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3864"/>
                </a:solidFill>
              </a:rPr>
              <a:t>Why it is a classic trade-off</a:t>
            </a: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Trade-offs are unavoidable:</a:t>
            </a:r>
            <a:r>
              <a:rPr lang="en-US" sz="1400" dirty="0">
                <a:solidFill>
                  <a:srgbClr val="212121"/>
                </a:solidFill>
              </a:rPr>
              <a:t> improving concordance often increases the miss rate</a:t>
            </a: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The metrics are interconnected:</a:t>
            </a:r>
            <a:r>
              <a:rPr lang="en-US" sz="1400" dirty="0">
                <a:solidFill>
                  <a:srgbClr val="212121"/>
                </a:solidFill>
              </a:rPr>
              <a:t> adjusting QC parameters changes concordance and miss rate at the same time</a:t>
            </a: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No perfect solution exists:</a:t>
            </a:r>
            <a:r>
              <a:rPr lang="en-US" sz="1400" dirty="0">
                <a:solidFill>
                  <a:srgbClr val="212121"/>
                </a:solidFill>
              </a:rPr>
              <a:t> both cannot be optimized at once</a:t>
            </a:r>
          </a:p>
        </p:txBody>
      </p:sp>
      <p:cxnSp>
        <p:nvCxnSpPr>
          <p:cNvPr id="212" name="Rule 212"/>
          <p:cNvCxnSpPr/>
          <p:nvPr/>
        </p:nvCxnSpPr>
        <p:spPr>
          <a:xfrm>
            <a:off x="8128000" y="1905000"/>
            <a:ext cx="3429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3" name="Text 203"/>
          <p:cNvSpPr txBox="1"/>
          <p:nvPr/>
        </p:nvSpPr>
        <p:spPr>
          <a:xfrm>
            <a:off x="8128000" y="2057400"/>
            <a:ext cx="3429000" cy="368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3864"/>
                </a:solidFill>
              </a:rPr>
              <a:t>Our objectives</a:t>
            </a: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Identify a set of optimal QC parameters (the </a:t>
            </a:r>
            <a:r>
              <a:rPr lang="en-US" sz="1400" b="1" dirty="0">
                <a:solidFill>
                  <a:srgbClr val="212121"/>
                </a:solidFill>
              </a:rPr>
              <a:t>Pareto front</a:t>
            </a:r>
            <a:r>
              <a:rPr lang="en-US" sz="1400" dirty="0">
                <a:solidFill>
                  <a:srgbClr val="212121"/>
                </a:solidFill>
              </a:rPr>
              <a:t>)</a:t>
            </a: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Maximize the retention of valid data while ensuring data quality</a:t>
            </a:r>
          </a:p>
          <a:p>
            <a:pPr marL="171450" indent="-171450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Provide clear trade-off information across parameter configurations so we can select the most suitable one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We need a rule that picks one point from the Pareto front, not a single best value for each metric.</a:t>
            </a:r>
          </a:p>
        </p:txBody>
      </p:sp>
    </p:spTree>
    <p:extLst>
      <p:ext uri="{BB962C8B-B14F-4D97-AF65-F5344CB8AC3E}">
        <p14:creationId xmlns:p14="http://schemas.microsoft.com/office/powerpoint/2010/main" val="4228132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CF752F2-24D2-786F-ED3E-173C15D7BB28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Pareto Front: Settings No Other Setting Beats on Both Goals</a:t>
            </a:r>
            <a:endParaRPr lang="zh-CN" altLang="en-US" sz="2400" b="1" u="sng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FAE4267E-8646-FBC7-13CD-034C6C9D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19</a:t>
            </a:fld>
            <a:endParaRPr kumimoji="1" lang="zh-CN" altLang="en-US"/>
          </a:p>
        </p:txBody>
      </p:sp>
      <p:pic>
        <p:nvPicPr>
          <p:cNvPr id="1026" name="Picture 2" descr="Single- vs. Multi-Objective Optimization — honegumi latest documentation">
            <a:extLst>
              <a:ext uri="{FF2B5EF4-FFF2-40B4-BE49-F238E27FC236}">
                <a16:creationId xmlns:a16="http://schemas.microsoft.com/office/drawing/2014/main" id="{C1DFC1A2-94D0-BC15-E151-B02CEAA270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17"/>
          <a:stretch>
            <a:fillRect/>
          </a:stretch>
        </p:blipFill>
        <p:spPr bwMode="auto">
          <a:xfrm>
            <a:off x="7435779" y="1197308"/>
            <a:ext cx="4471040" cy="4268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Single- vs. Multi-Objective Optimization — honegumi latest documentation">
            <a:extLst>
              <a:ext uri="{FF2B5EF4-FFF2-40B4-BE49-F238E27FC236}">
                <a16:creationId xmlns:a16="http://schemas.microsoft.com/office/drawing/2014/main" id="{72BC40F9-C258-9611-A89C-8EE074FE30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08" t="62527" b="20348"/>
          <a:stretch>
            <a:fillRect/>
          </a:stretch>
        </p:blipFill>
        <p:spPr bwMode="auto">
          <a:xfrm>
            <a:off x="8161501" y="5465317"/>
            <a:ext cx="2898819" cy="87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" name="Text 201"/>
          <p:cNvSpPr txBox="1"/>
          <p:nvPr/>
        </p:nvSpPr>
        <p:spPr>
          <a:xfrm>
            <a:off x="508000" y="1016000"/>
            <a:ext cx="6350000" cy="457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12121"/>
                </a:solidFill>
              </a:rPr>
              <a:t>Pareto optimization is a fundamental technique for multi-objective optimization. It relies on three concepts:</a:t>
            </a:r>
          </a:p>
          <a:p>
            <a:pPr marL="0" indent="0">
              <a:lnSpc>
                <a:spcPct val="110000"/>
              </a:lnSpc>
              <a:spcBef>
                <a:spcPts val="9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Key concepts</a:t>
            </a:r>
          </a:p>
          <a:p>
            <a:pPr marL="171450" indent="-1714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Dominated solution (gray points):</a:t>
            </a:r>
            <a:r>
              <a:rPr lang="en-US" sz="1400" dirty="0">
                <a:solidFill>
                  <a:srgbClr val="212121"/>
                </a:solidFill>
              </a:rPr>
              <a:t> performs worse on both objectives than some point on the Pareto front</a:t>
            </a:r>
          </a:p>
          <a:p>
            <a:pPr marL="171450" indent="-1714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Non-dominated solution (blue points):</a:t>
            </a:r>
            <a:r>
              <a:rPr lang="en-US" sz="1400" dirty="0">
                <a:solidFill>
                  <a:srgbClr val="212121"/>
                </a:solidFill>
              </a:rPr>
              <a:t> no other solution is better on all objectives</a:t>
            </a:r>
          </a:p>
          <a:p>
            <a:pPr marL="171450" indent="-1714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Pareto front (blue curve):</a:t>
            </a:r>
            <a:r>
              <a:rPr lang="en-US" sz="1400" dirty="0">
                <a:solidFill>
                  <a:srgbClr val="212121"/>
                </a:solidFill>
              </a:rPr>
              <a:t> the set of all non-dominated solutions; on this curve, improving one objective inevitably compromises the other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Reading the diagram</a:t>
            </a:r>
          </a:p>
          <a:p>
            <a:pPr marL="171450" indent="-1714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The diagram shows a bi-objective problem; each point on the Pareto front is an optimal balance between the two objectives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588000"/>
            <a:ext cx="66040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Only points on the Pareto front are worth considering; every other point can be improved on both goals.</a:t>
            </a:r>
          </a:p>
        </p:txBody>
      </p:sp>
    </p:spTree>
    <p:extLst>
      <p:ext uri="{BB962C8B-B14F-4D97-AF65-F5344CB8AC3E}">
        <p14:creationId xmlns:p14="http://schemas.microsoft.com/office/powerpoint/2010/main" val="3051410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49143AF-40C8-BF9E-1558-ED21316C3C9D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Applied to QC: Miss Rate Against Concordance</a:t>
            </a:r>
            <a:endParaRPr lang="zh-CN" altLang="en-US" sz="2400" b="1" u="sng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EB9E586-6299-D5D6-4B98-0EDE9369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20</a:t>
            </a:fld>
            <a:endParaRPr kumimoji="1" lang="zh-CN" altLang="en-US"/>
          </a:p>
        </p:txBody>
      </p:sp>
      <p:pic>
        <p:nvPicPr>
          <p:cNvPr id="2" name="Picture 2" descr="Single- vs. Multi-Objective Optimization — honegumi latest documentation">
            <a:extLst>
              <a:ext uri="{FF2B5EF4-FFF2-40B4-BE49-F238E27FC236}">
                <a16:creationId xmlns:a16="http://schemas.microsoft.com/office/drawing/2014/main" id="{DF76D1E5-D947-25E0-F6C7-4E99BB5579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17"/>
          <a:stretch>
            <a:fillRect/>
          </a:stretch>
        </p:blipFill>
        <p:spPr bwMode="auto">
          <a:xfrm>
            <a:off x="7435779" y="1197310"/>
            <a:ext cx="4471040" cy="4268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ingle- vs. Multi-Objective Optimization — honegumi latest documentation">
            <a:extLst>
              <a:ext uri="{FF2B5EF4-FFF2-40B4-BE49-F238E27FC236}">
                <a16:creationId xmlns:a16="http://schemas.microsoft.com/office/drawing/2014/main" id="{5B9B8EE5-78A9-804A-7FF5-17F7D27ADB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08" t="62527" b="20348"/>
          <a:stretch>
            <a:fillRect/>
          </a:stretch>
        </p:blipFill>
        <p:spPr bwMode="auto">
          <a:xfrm>
            <a:off x="8161501" y="5465317"/>
            <a:ext cx="2898819" cy="87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2BBCC8-FBCC-17A0-5914-BC98334E93FA}"/>
              </a:ext>
            </a:extLst>
          </p:cNvPr>
          <p:cNvSpPr txBox="1"/>
          <p:nvPr/>
        </p:nvSpPr>
        <p:spPr>
          <a:xfrm>
            <a:off x="9077946" y="4865913"/>
            <a:ext cx="18085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Genotype Miss Rate</a:t>
            </a:r>
            <a:endParaRPr kumimoji="1"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45792E-5B39-7C7C-5BFF-7CDF474F120A}"/>
              </a:ext>
            </a:extLst>
          </p:cNvPr>
          <p:cNvSpPr txBox="1"/>
          <p:nvPr/>
        </p:nvSpPr>
        <p:spPr>
          <a:xfrm rot="16200000">
            <a:off x="6888799" y="2982717"/>
            <a:ext cx="209384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Genotype Concordance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8090AD-76B4-0D72-5DE9-B7DF58F70D5D}"/>
              </a:ext>
            </a:extLst>
          </p:cNvPr>
          <p:cNvSpPr txBox="1"/>
          <p:nvPr/>
        </p:nvSpPr>
        <p:spPr>
          <a:xfrm>
            <a:off x="8930355" y="1461331"/>
            <a:ext cx="1649811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Are dominated by</a:t>
            </a:r>
            <a:endParaRPr kumimoji="1" lang="zh-CN" altLang="en-US" sz="1400" b="1" dirty="0"/>
          </a:p>
        </p:txBody>
      </p:sp>
      <p:cxnSp>
        <p:nvCxnSpPr>
          <p:cNvPr id="14" name="肘形连接符 13">
            <a:extLst>
              <a:ext uri="{FF2B5EF4-FFF2-40B4-BE49-F238E27FC236}">
                <a16:creationId xmlns:a16="http://schemas.microsoft.com/office/drawing/2014/main" id="{66631F0A-793D-11EE-9220-73D77D1E4681}"/>
              </a:ext>
            </a:extLst>
          </p:cNvPr>
          <p:cNvCxnSpPr>
            <a:endCxn id="9" idx="3"/>
          </p:cNvCxnSpPr>
          <p:nvPr/>
        </p:nvCxnSpPr>
        <p:spPr>
          <a:xfrm rot="5400000" flipH="1" flipV="1">
            <a:off x="9874934" y="1875598"/>
            <a:ext cx="965610" cy="444854"/>
          </a:xfrm>
          <a:prstGeom prst="bentConnector4">
            <a:avLst>
              <a:gd name="adj1" fmla="val 436"/>
              <a:gd name="adj2" fmla="val 1513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>
            <a:extLst>
              <a:ext uri="{FF2B5EF4-FFF2-40B4-BE49-F238E27FC236}">
                <a16:creationId xmlns:a16="http://schemas.microsoft.com/office/drawing/2014/main" id="{D6841CE7-0098-2950-2211-21EC3B4AB02D}"/>
              </a:ext>
            </a:extLst>
          </p:cNvPr>
          <p:cNvCxnSpPr>
            <a:endCxn id="9" idx="3"/>
          </p:cNvCxnSpPr>
          <p:nvPr/>
        </p:nvCxnSpPr>
        <p:spPr>
          <a:xfrm rot="5400000" flipH="1" flipV="1">
            <a:off x="9853570" y="2050787"/>
            <a:ext cx="1162163" cy="291030"/>
          </a:xfrm>
          <a:prstGeom prst="bentConnector4">
            <a:avLst>
              <a:gd name="adj1" fmla="val -1477"/>
              <a:gd name="adj2" fmla="val 17854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8AB60789-8ABB-B22B-4E6B-49DAEA266D51}"/>
              </a:ext>
            </a:extLst>
          </p:cNvPr>
          <p:cNvCxnSpPr/>
          <p:nvPr/>
        </p:nvCxnSpPr>
        <p:spPr>
          <a:xfrm>
            <a:off x="8930355" y="1615219"/>
            <a:ext cx="888763" cy="854516"/>
          </a:xfrm>
          <a:prstGeom prst="bentConnector3">
            <a:avLst>
              <a:gd name="adj1" fmla="val -26923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 201"/>
          <p:cNvSpPr txBox="1"/>
          <p:nvPr/>
        </p:nvSpPr>
        <p:spPr>
          <a:xfrm>
            <a:off x="508000" y="1016000"/>
            <a:ext cx="6096000" cy="457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12121"/>
                </a:solidFill>
              </a:rPr>
              <a:t>In our example, the x-axis is </a:t>
            </a:r>
            <a:r>
              <a:rPr lang="en-US" sz="1400" b="1" dirty="0">
                <a:solidFill>
                  <a:srgbClr val="212121"/>
                </a:solidFill>
              </a:rPr>
              <a:t>genotype miss rate</a:t>
            </a:r>
            <a:r>
              <a:rPr lang="en-US" sz="1400" dirty="0">
                <a:solidFill>
                  <a:srgbClr val="212121"/>
                </a:solidFill>
              </a:rPr>
              <a:t> and the y-axis is </a:t>
            </a:r>
            <a:r>
              <a:rPr lang="en-US" sz="1400" b="1" dirty="0">
                <a:solidFill>
                  <a:srgbClr val="212121"/>
                </a:solidFill>
              </a:rPr>
              <a:t>genotype concordance</a:t>
            </a:r>
            <a:r>
              <a:rPr lang="en-US" sz="1400" dirty="0">
                <a:solidFill>
                  <a:srgbClr val="212121"/>
                </a:solidFill>
              </a:rPr>
              <a:t>; each point is the result of one parameter setting.</a:t>
            </a:r>
          </a:p>
          <a:p>
            <a:pPr marL="0" indent="0">
              <a:lnSpc>
                <a:spcPct val="110000"/>
              </a:lnSpc>
              <a:spcBef>
                <a:spcPts val="9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What the points mean</a:t>
            </a:r>
          </a:p>
          <a:p>
            <a:pPr marL="171450" indent="-1714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Gray points (dominated):</a:t>
            </a:r>
            <a:r>
              <a:rPr lang="en-US" sz="1400" dirty="0">
                <a:solidFill>
                  <a:srgbClr val="212121"/>
                </a:solidFill>
              </a:rPr>
              <a:t> some parameter combination achieves both a lower miss rate and higher concordance</a:t>
            </a:r>
          </a:p>
          <a:p>
            <a:pPr marL="171450" indent="-1714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Blue points (non-dominated, on the Pareto front):</a:t>
            </a:r>
            <a:r>
              <a:rPr lang="en-US" sz="1400" dirty="0">
                <a:solidFill>
                  <a:srgbClr val="212121"/>
                </a:solidFill>
              </a:rPr>
              <a:t> the best trade-offs; no other setting is better on both metrics</a:t>
            </a:r>
          </a:p>
          <a:p>
            <a:pPr marL="171450" indent="-1714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b="1" dirty="0">
                <a:solidFill>
                  <a:srgbClr val="212121"/>
                </a:solidFill>
              </a:rPr>
              <a:t>Blue curve (Pareto front):</a:t>
            </a:r>
            <a:r>
              <a:rPr lang="en-US" sz="1400" dirty="0">
                <a:solidFill>
                  <a:srgbClr val="212121"/>
                </a:solidFill>
              </a:rPr>
              <a:t> moving along it, increasing concordance requires accepting a higher miss rate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How we use it</a:t>
            </a:r>
          </a:p>
          <a:p>
            <a:pPr marL="171450" indent="-1714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This lets us focus only on the optimal parameter combinations: the non-dominated solutions on the Pareto front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588000"/>
            <a:ext cx="66040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We only choose among Pareto-front settings; the dominated settings are discarded.</a:t>
            </a:r>
          </a:p>
        </p:txBody>
      </p:sp>
    </p:spTree>
    <p:extLst>
      <p:ext uri="{BB962C8B-B14F-4D97-AF65-F5344CB8AC3E}">
        <p14:creationId xmlns:p14="http://schemas.microsoft.com/office/powerpoint/2010/main" val="2735344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C93B-7816-DBD7-EAAC-9C163494F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8F69EA1D-4CC3-0F29-17B6-AE6876C8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21</a:t>
            </a:fld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B75322-ABC1-F7FC-05C0-1E4B4DCF1057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We Pick the Knee Point on the Pareto Front</a:t>
            </a:r>
            <a:endParaRPr lang="zh-CN" altLang="en-US" sz="2400" b="1" u="sng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30290F4-C1F3-4FA4-3549-BED49BEB7800}"/>
              </a:ext>
            </a:extLst>
          </p:cNvPr>
          <p:cNvGrpSpPr/>
          <p:nvPr/>
        </p:nvGrpSpPr>
        <p:grpSpPr>
          <a:xfrm>
            <a:off x="177800" y="762000"/>
            <a:ext cx="7363896" cy="3806391"/>
            <a:chOff x="2414052" y="461665"/>
            <a:chExt cx="7363896" cy="3806391"/>
          </a:xfrm>
        </p:grpSpPr>
        <p:pic>
          <p:nvPicPr>
            <p:cNvPr id="3" name="Picture 2" descr="Single- vs. Multi-Objective Optimization — honegumi latest documentation">
              <a:extLst>
                <a:ext uri="{FF2B5EF4-FFF2-40B4-BE49-F238E27FC236}">
                  <a16:creationId xmlns:a16="http://schemas.microsoft.com/office/drawing/2014/main" id="{66E95407-DBF1-1001-86D0-BCD059220F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5717"/>
            <a:stretch>
              <a:fillRect/>
            </a:stretch>
          </p:blipFill>
          <p:spPr bwMode="auto">
            <a:xfrm>
              <a:off x="2414052" y="461665"/>
              <a:ext cx="3987463" cy="3806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Single- vs. Multi-Objective Optimization — honegumi latest documentation">
              <a:extLst>
                <a:ext uri="{FF2B5EF4-FFF2-40B4-BE49-F238E27FC236}">
                  <a16:creationId xmlns:a16="http://schemas.microsoft.com/office/drawing/2014/main" id="{7CB7DA3A-5E11-91B7-BD87-F2C903B676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008" t="62527" b="20348"/>
            <a:stretch>
              <a:fillRect/>
            </a:stretch>
          </p:blipFill>
          <p:spPr bwMode="auto">
            <a:xfrm>
              <a:off x="7053817" y="2007102"/>
              <a:ext cx="2724131" cy="8181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三角形 11">
              <a:extLst>
                <a:ext uri="{FF2B5EF4-FFF2-40B4-BE49-F238E27FC236}">
                  <a16:creationId xmlns:a16="http://schemas.microsoft.com/office/drawing/2014/main" id="{A6243D36-3209-1BD0-F185-01612A30EC8A}"/>
                </a:ext>
              </a:extLst>
            </p:cNvPr>
            <p:cNvSpPr/>
            <p:nvPr/>
          </p:nvSpPr>
          <p:spPr>
            <a:xfrm rot="10800000">
              <a:off x="3959405" y="1503303"/>
              <a:ext cx="268645" cy="21027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D7764CF-B5D5-4854-E3A5-6B1397CB00EE}"/>
                </a:ext>
              </a:extLst>
            </p:cNvPr>
            <p:cNvSpPr txBox="1"/>
            <p:nvPr/>
          </p:nvSpPr>
          <p:spPr>
            <a:xfrm>
              <a:off x="3413140" y="988530"/>
              <a:ext cx="1361177" cy="408623"/>
            </a:xfrm>
            <a:prstGeom prst="round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b="1" u="sng" dirty="0"/>
                <a:t>Knee Point</a:t>
              </a:r>
              <a:endParaRPr kumimoji="1" lang="zh-CN" altLang="en-US" dirty="0"/>
            </a:p>
          </p:txBody>
        </p:sp>
      </p:grpSp>
      <p:sp>
        <p:nvSpPr>
          <p:cNvPr id="201" name="Text 201"/>
          <p:cNvSpPr txBox="1"/>
          <p:nvPr/>
        </p:nvSpPr>
        <p:spPr>
          <a:xfrm>
            <a:off x="7874000" y="889000"/>
            <a:ext cx="3937000" cy="482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Why the knee point</a:t>
            </a:r>
          </a:p>
          <a:p>
            <a:pPr marL="171450" indent="-171450">
              <a:lnSpc>
                <a:spcPct val="105000"/>
              </a:lnSpc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In practice we select QC parameters from the Pareto front according to research needs</a:t>
            </a:r>
          </a:p>
          <a:p>
            <a:pPr marL="171450" indent="-171450">
              <a:lnSpc>
                <a:spcPct val="105000"/>
              </a:lnSpc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knee point gives the </a:t>
            </a:r>
            <a:r>
              <a:rPr lang="en-US" sz="1300" b="1" dirty="0">
                <a:solidFill>
                  <a:srgbClr val="212121"/>
                </a:solidFill>
              </a:rPr>
              <a:t>best balance among the metrics</a:t>
            </a:r>
            <a:r>
              <a:rPr lang="en-US" sz="1300" dirty="0">
                <a:solidFill>
                  <a:srgbClr val="212121"/>
                </a:solidFill>
              </a:rPr>
              <a:t>; optimizing beyond it significantly harms the other metric</a:t>
            </a:r>
          </a:p>
          <a:p>
            <a:pPr marL="0" indent="0">
              <a:lnSpc>
                <a:spcPct val="105000"/>
              </a:lnSpc>
              <a:spcBef>
                <a:spcPts val="11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Fine-tuning from the knee</a:t>
            </a:r>
          </a:p>
          <a:p>
            <a:pPr marL="171450" indent="-171450">
              <a:lnSpc>
                <a:spcPct val="105000"/>
              </a:lnSpc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Shift toward </a:t>
            </a:r>
            <a:r>
              <a:rPr lang="en-US" sz="1300" b="1" dirty="0">
                <a:solidFill>
                  <a:srgbClr val="212121"/>
                </a:solidFill>
              </a:rPr>
              <a:t>data completeness</a:t>
            </a:r>
            <a:r>
              <a:rPr lang="en-US" sz="1300" dirty="0">
                <a:solidFill>
                  <a:srgbClr val="212121"/>
                </a:solidFill>
              </a:rPr>
              <a:t> for large-scale analyses</a:t>
            </a:r>
          </a:p>
          <a:p>
            <a:pPr marL="171450" indent="-171450">
              <a:lnSpc>
                <a:spcPct val="105000"/>
              </a:lnSpc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Shift toward </a:t>
            </a:r>
            <a:r>
              <a:rPr lang="en-US" sz="1300" b="1" dirty="0">
                <a:solidFill>
                  <a:srgbClr val="212121"/>
                </a:solidFill>
              </a:rPr>
              <a:t>genotype accuracy</a:t>
            </a:r>
            <a:r>
              <a:rPr lang="en-US" sz="1300" dirty="0">
                <a:solidFill>
                  <a:srgbClr val="212121"/>
                </a:solidFill>
              </a:rPr>
              <a:t> for studies that need high confidence</a:t>
            </a:r>
          </a:p>
          <a:p>
            <a:pPr marL="0" indent="0">
              <a:lnSpc>
                <a:spcPct val="105000"/>
              </a:lnSpc>
              <a:spcBef>
                <a:spcPts val="11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Next challenges</a:t>
            </a:r>
          </a:p>
          <a:p>
            <a:pPr marL="171450" indent="-171450">
              <a:lnSpc>
                <a:spcPct val="105000"/>
              </a:lnSpc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Identify the knee point:</a:t>
            </a:r>
            <a:r>
              <a:rPr lang="en-US" sz="1300" dirty="0">
                <a:solidFill>
                  <a:srgbClr val="212121"/>
                </a:solidFill>
              </a:rPr>
              <a:t> the result depends on the scale and dimensions of both x and y</a:t>
            </a:r>
          </a:p>
          <a:p>
            <a:pPr marL="171450" indent="-171450">
              <a:lnSpc>
                <a:spcPct val="105000"/>
              </a:lnSpc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Weighted methodology:</a:t>
            </a:r>
            <a:r>
              <a:rPr lang="en-US" sz="1300" dirty="0">
                <a:solidFill>
                  <a:srgbClr val="212121"/>
                </a:solidFill>
              </a:rPr>
              <a:t> let us prioritize one objective when optimizing the parameters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588000"/>
            <a:ext cx="7112000" cy="55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We take the knee point as the default choice and next need a method to find it and to weight it.</a:t>
            </a:r>
          </a:p>
        </p:txBody>
      </p:sp>
    </p:spTree>
    <p:extLst>
      <p:ext uri="{BB962C8B-B14F-4D97-AF65-F5344CB8AC3E}">
        <p14:creationId xmlns:p14="http://schemas.microsoft.com/office/powerpoint/2010/main" val="4200005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F71845F-7C6E-D17E-3F6B-FD2496BCD9E8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Kneedle Finds the Knee Point of a Monotonic Curve</a:t>
            </a:r>
            <a:endParaRPr lang="zh-CN" altLang="en-US" sz="2400" b="1" u="sng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A7EF40-93C3-3A12-D686-A667759E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22</a:t>
            </a:fld>
            <a:endParaRPr kumimoji="1" lang="zh-CN" altLang="en-US"/>
          </a:p>
        </p:txBody>
      </p:sp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98BCBB5B-09AE-84A3-DC4D-6BCFF19EE8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84" t="7609" r="6812" b="8913"/>
          <a:stretch/>
        </p:blipFill>
        <p:spPr>
          <a:xfrm>
            <a:off x="304800" y="558800"/>
            <a:ext cx="4267200" cy="41148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34425C2D-B7CA-7580-00A6-6B85500B09E6}"/>
              </a:ext>
            </a:extLst>
          </p:cNvPr>
          <p:cNvSpPr/>
          <p:nvPr/>
        </p:nvSpPr>
        <p:spPr>
          <a:xfrm>
            <a:off x="419100" y="2628900"/>
            <a:ext cx="2095500" cy="2019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图片 22" descr="文本, 信件&#10;&#10;AI 生成的内容可能不正确。">
            <a:extLst>
              <a:ext uri="{FF2B5EF4-FFF2-40B4-BE49-F238E27FC236}">
                <a16:creationId xmlns:a16="http://schemas.microsoft.com/office/drawing/2014/main" id="{70F57045-FF83-07BE-31B9-AE19FBE5E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889000"/>
            <a:ext cx="6197600" cy="3733800"/>
          </a:xfrm>
          <a:prstGeom prst="rect">
            <a:avLst/>
          </a:prstGeom>
        </p:spPr>
      </p:pic>
      <p:sp>
        <p:nvSpPr>
          <p:cNvPr id="201" name="Text 201"/>
          <p:cNvSpPr txBox="1"/>
          <p:nvPr/>
        </p:nvSpPr>
        <p:spPr>
          <a:xfrm>
            <a:off x="508000" y="4826000"/>
            <a:ext cx="11176000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12121"/>
                </a:solidFill>
              </a:rPr>
              <a:t>We use the Python </a:t>
            </a:r>
            <a:r>
              <a:rPr lang="en-US" sz="1400" b="1" dirty="0">
                <a:solidFill>
                  <a:srgbClr val="212121"/>
                </a:solidFill>
              </a:rPr>
              <a:t>kneed</a:t>
            </a:r>
            <a:r>
              <a:rPr lang="en-US" sz="1400" dirty="0">
                <a:solidFill>
                  <a:srgbClr val="212121"/>
                </a:solidFill>
              </a:rPr>
              <a:t> library to detect knee points. Its algorithm, </a:t>
            </a:r>
            <a:r>
              <a:rPr lang="en-US" sz="1400" b="1" dirty="0">
                <a:solidFill>
                  <a:srgbClr val="212121"/>
                </a:solidFill>
              </a:rPr>
              <a:t>Kneedle</a:t>
            </a:r>
            <a:r>
              <a:rPr lang="en-US" sz="1400" dirty="0">
                <a:solidFill>
                  <a:srgbClr val="212121"/>
                </a:solidFill>
              </a:rPr>
              <a:t> [1], identifies the knee point of a monotonic curve. The next two slides walk through the implementation on the </a:t>
            </a:r>
            <a:r>
              <a:rPr lang="en-US" sz="1400" b="1" dirty="0">
                <a:solidFill>
                  <a:srgbClr val="212121"/>
                </a:solidFill>
              </a:rPr>
              <a:t>concave increasing</a:t>
            </a:r>
            <a:r>
              <a:rPr lang="en-US" sz="1400" dirty="0">
                <a:solidFill>
                  <a:srgbClr val="212121"/>
                </a:solidFill>
              </a:rPr>
              <a:t> example from the original paper (red box).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Kneedle gives a reproducible rule for picking the knee point on our Pareto fronts.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508000" y="6248400"/>
            <a:ext cx="8128000" cy="381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</a:rPr>
              <a:t>[1] Satopää, V., Albrecht, J., Irwin, D., &amp; Raghavan, B. (2011). Finding a “Kneedle” in a haystack: Detecting knee points in system behavior. 31st International Conference on Distributed Computing Systems Workshops, 166–171. Code: github.com/arvkevi/kneed</a:t>
            </a:r>
          </a:p>
        </p:txBody>
      </p:sp>
    </p:spTree>
    <p:extLst>
      <p:ext uri="{BB962C8B-B14F-4D97-AF65-F5344CB8AC3E}">
        <p14:creationId xmlns:p14="http://schemas.microsoft.com/office/powerpoint/2010/main" val="2051172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48DCB5-7370-43BE-0AFC-780C2EAD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23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C952AB-0DC1-47C7-6A74-C906C1FAF599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Kneedle (1): From Input Points to the Difference Curve</a:t>
            </a:r>
            <a:endParaRPr lang="zh-CN" altLang="en-US" sz="2400" b="1" u="sng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96627A-114B-6C49-9927-923B79FCE75D}"/>
              </a:ext>
            </a:extLst>
          </p:cNvPr>
          <p:cNvSpPr txBox="1"/>
          <p:nvPr/>
        </p:nvSpPr>
        <p:spPr>
          <a:xfrm>
            <a:off x="254000" y="609600"/>
            <a:ext cx="7493000" cy="787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1  Input curve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212121"/>
                </a:solidFill>
              </a:rPr>
              <a:t>Monotonically increasing points; here x = miss rate and y = concordance.</a:t>
            </a:r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5747455E-C3B5-ECE9-F676-A955E28DC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911" y="1478380"/>
            <a:ext cx="2496967" cy="34510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8FBA201-8DAE-E2AE-B4AC-C2B46E526596}"/>
              </a:ext>
            </a:extLst>
          </p:cNvPr>
          <p:cNvSpPr txBox="1"/>
          <p:nvPr/>
        </p:nvSpPr>
        <p:spPr>
          <a:xfrm>
            <a:off x="254000" y="1778000"/>
            <a:ext cx="749300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2  Smooth curve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212121"/>
                </a:solidFill>
              </a:rPr>
              <a:t>Linear interpolation (scipy.interpolate.interp1d) turns the points into a continuous f(x) and damps noise.</a:t>
            </a:r>
          </a:p>
        </p:txBody>
      </p:sp>
      <p:pic>
        <p:nvPicPr>
          <p:cNvPr id="11" name="图片 10" descr="文本, 信件&#10;&#10;AI 生成的内容可能不正确。">
            <a:extLst>
              <a:ext uri="{FF2B5EF4-FFF2-40B4-BE49-F238E27FC236}">
                <a16:creationId xmlns:a16="http://schemas.microsoft.com/office/drawing/2014/main" id="{2B9EEFCA-B539-1F80-2BD4-5FADDD5D1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687" y="2765795"/>
            <a:ext cx="4443645" cy="93696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E38F35F-6DFE-6D74-67AB-94F630A8F095}"/>
              </a:ext>
            </a:extLst>
          </p:cNvPr>
          <p:cNvSpPr txBox="1"/>
          <p:nvPr/>
        </p:nvSpPr>
        <p:spPr>
          <a:xfrm>
            <a:off x="254000" y="3810000"/>
            <a:ext cx="7493000" cy="76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3  Normalize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212121"/>
                </a:solidFill>
              </a:rPr>
              <a:t>MinMax scaling maps x and f(x) onto [0, 1], so the two axes are comparable.</a:t>
            </a:r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3765E5E6-D32E-2A35-13AA-3073D8A0D7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125" r="34762" b="33992"/>
          <a:stretch/>
        </p:blipFill>
        <p:spPr>
          <a:xfrm>
            <a:off x="7801059" y="798113"/>
            <a:ext cx="4125444" cy="307815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FBFC0DF-F4A1-6B9D-79D2-2D049B7B2E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3121" y="4625947"/>
            <a:ext cx="4347819" cy="42316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3DD8666-8D92-70D5-F59E-C7D630DCBC6D}"/>
              </a:ext>
            </a:extLst>
          </p:cNvPr>
          <p:cNvSpPr txBox="1"/>
          <p:nvPr/>
        </p:nvSpPr>
        <p:spPr>
          <a:xfrm>
            <a:off x="254000" y="5003800"/>
            <a:ext cx="749300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4  Difference curve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212121"/>
                </a:solidFill>
              </a:rPr>
              <a:t>Compare f with the line y = x (linear growth). A curve that rises fast and then flattens sits above the line early and approaches it later; D(x) measures that gap.</a:t>
            </a:r>
          </a:p>
        </p:txBody>
      </p:sp>
      <p:pic>
        <p:nvPicPr>
          <p:cNvPr id="22" name="图片 21" descr="徽标&#10;&#10;AI 生成的内容可能不正确。">
            <a:extLst>
              <a:ext uri="{FF2B5EF4-FFF2-40B4-BE49-F238E27FC236}">
                <a16:creationId xmlns:a16="http://schemas.microsoft.com/office/drawing/2014/main" id="{09E3BE2C-A5D9-207D-6895-3BBD8F249F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575" y="5922758"/>
            <a:ext cx="1768613" cy="28181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34144F5-9F25-34FA-DACF-5A9FD7F4CC7C}"/>
              </a:ext>
            </a:extLst>
          </p:cNvPr>
          <p:cNvSpPr txBox="1"/>
          <p:nvPr/>
        </p:nvSpPr>
        <p:spPr>
          <a:xfrm>
            <a:off x="508000" y="6273800"/>
            <a:ext cx="7366000" cy="279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A larger D(x) means the curve sits further above y = x: the region of greatest gain.</a:t>
            </a:r>
          </a:p>
        </p:txBody>
      </p:sp>
    </p:spTree>
    <p:extLst>
      <p:ext uri="{BB962C8B-B14F-4D97-AF65-F5344CB8AC3E}">
        <p14:creationId xmlns:p14="http://schemas.microsoft.com/office/powerpoint/2010/main" val="181997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B78182-26BE-472F-A10E-6F64652A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24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5DEF7F-8748-347B-ED48-8FF980BEAFF4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Kneedle (2): From Difference-Curve Peaks to the Knee Point</a:t>
            </a:r>
            <a:endParaRPr lang="zh-CN" altLang="en-US" sz="2400" b="1" u="sng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CA8BFB-CD26-5E6D-40A2-2A6A175949F4}"/>
              </a:ext>
            </a:extLst>
          </p:cNvPr>
          <p:cNvSpPr txBox="1"/>
          <p:nvPr/>
        </p:nvSpPr>
        <p:spPr>
          <a:xfrm>
            <a:off x="254000" y="609600"/>
            <a:ext cx="7493000" cy="787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5  Local maxima become candidates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212121"/>
                </a:solidFill>
              </a:rPr>
              <a:t>Each local maximum of D(x) marks a peak in deviation from y = x and is a knee candidate.</a:t>
            </a: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33E48209-6172-0C6C-D8C4-659052758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25" r="34762" b="33992"/>
          <a:stretch/>
        </p:blipFill>
        <p:spPr>
          <a:xfrm>
            <a:off x="7959712" y="638987"/>
            <a:ext cx="3739275" cy="27900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70DD454-59D0-3375-AC6C-EFB73F73D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473200"/>
            <a:ext cx="5384800" cy="254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6D0C47D-8392-A215-081B-B7ECAD97E77C}"/>
              </a:ext>
            </a:extLst>
          </p:cNvPr>
          <p:cNvSpPr txBox="1"/>
          <p:nvPr/>
        </p:nvSpPr>
        <p:spPr>
          <a:xfrm>
            <a:off x="254000" y="1905000"/>
            <a:ext cx="7493000" cy="101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6  Threshold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212121"/>
                </a:solidFill>
              </a:rPr>
              <a:t>A threshold T below each maximum keeps small fluctuations from being taken as knees; S sets its sensitivity (default 1).</a:t>
            </a:r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99D35057-A839-FF6E-2290-5DC8F8363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2971800"/>
            <a:ext cx="5727700" cy="8763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052E0D0-5D0F-DDDB-8307-0C459EA50FB3}"/>
              </a:ext>
            </a:extLst>
          </p:cNvPr>
          <p:cNvSpPr txBox="1"/>
          <p:nvPr/>
        </p:nvSpPr>
        <p:spPr>
          <a:xfrm>
            <a:off x="254000" y="4038600"/>
            <a:ext cx="7493000" cy="584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7  Detect the knee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212121"/>
                </a:solidFill>
              </a:rPr>
              <a:t>Moving right from the first maximum, take the first point </a:t>
            </a:r>
            <a:r>
              <a:rPr lang="en-US" sz="1400" i="1" dirty="0">
                <a:solidFill>
                  <a:srgbClr val="212121"/>
                </a:solidFill>
              </a:rPr>
              <a:t>x</a:t>
            </a:r>
            <a:r>
              <a:rPr lang="en-US" sz="1400" dirty="0">
                <a:solidFill>
                  <a:srgbClr val="212121"/>
                </a:solidFill>
              </a:rPr>
              <a:t>ⱼ that meets:</a:t>
            </a:r>
          </a:p>
        </p:txBody>
      </p:sp>
      <p:pic>
        <p:nvPicPr>
          <p:cNvPr id="15" name="图片 14" descr="图标&#10;&#10;AI 生成的内容可能不正确。">
            <a:extLst>
              <a:ext uri="{FF2B5EF4-FFF2-40B4-BE49-F238E27FC236}">
                <a16:creationId xmlns:a16="http://schemas.microsoft.com/office/drawing/2014/main" id="{4C67134A-7604-BA3F-F28B-8455FF359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4699000"/>
            <a:ext cx="1130300" cy="254000"/>
          </a:xfrm>
          <a:prstGeom prst="rect">
            <a:avLst/>
          </a:prstGeom>
        </p:spPr>
      </p:pic>
      <p:pic>
        <p:nvPicPr>
          <p:cNvPr id="17" name="图片 16" descr="图表, 折线图&#10;&#10;AI 生成的内容可能不正确。">
            <a:extLst>
              <a:ext uri="{FF2B5EF4-FFF2-40B4-BE49-F238E27FC236}">
                <a16:creationId xmlns:a16="http://schemas.microsoft.com/office/drawing/2014/main" id="{9A6C821F-66FE-44E1-30F4-66E100312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14" y="3573841"/>
            <a:ext cx="3812677" cy="2782511"/>
          </a:xfrm>
          <a:prstGeom prst="rect">
            <a:avLst/>
          </a:prstGeom>
        </p:spPr>
      </p:pic>
      <p:sp>
        <p:nvSpPr>
          <p:cNvPr id="201" name="Text 201"/>
          <p:cNvSpPr txBox="1"/>
          <p:nvPr/>
        </p:nvSpPr>
        <p:spPr>
          <a:xfrm>
            <a:off x="254000" y="5080000"/>
            <a:ext cx="74930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212121"/>
                </a:solidFill>
              </a:rPr>
              <a:t>The curve has entered the diminishing-returns region, and </a:t>
            </a:r>
            <a:r>
              <a:rPr lang="en-US" sz="1400" i="1" dirty="0">
                <a:solidFill>
                  <a:srgbClr val="212121"/>
                </a:solidFill>
              </a:rPr>
              <a:t>x</a:t>
            </a:r>
            <a:r>
              <a:rPr lang="en-US" sz="1400" dirty="0">
                <a:solidFill>
                  <a:srgbClr val="212121"/>
                </a:solidFill>
              </a:rPr>
              <a:t>ⱼ is reported as the knee point.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08000" y="5969000"/>
            <a:ext cx="736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Kneedle returns one knee per curve, set by where gains in y stop outpacing x.</a:t>
            </a:r>
          </a:p>
        </p:txBody>
      </p:sp>
    </p:spTree>
    <p:extLst>
      <p:ext uri="{BB962C8B-B14F-4D97-AF65-F5344CB8AC3E}">
        <p14:creationId xmlns:p14="http://schemas.microsoft.com/office/powerpoint/2010/main" val="459005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CFCDA-2511-0C1F-0885-4E3E4A75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64BB1-FB8C-9C49-5518-F7590098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25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480FC4-AF53-3B3D-1121-F1293AD0DF91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Weighted Kneedle Lets One Objective Count More</a:t>
            </a:r>
            <a:endParaRPr lang="zh-CN" altLang="en-US" sz="2400" b="1" u="sng" dirty="0"/>
          </a:p>
        </p:txBody>
      </p:sp>
      <p:sp>
        <p:nvSpPr>
          <p:cNvPr id="204" name="Text 204"/>
          <p:cNvSpPr txBox="1"/>
          <p:nvPr/>
        </p:nvSpPr>
        <p:spPr>
          <a:xfrm>
            <a:off x="508000" y="59182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One weight ratio turns a stated preference into a single, reproducible knee point.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08000" y="660400"/>
            <a:ext cx="5461000" cy="279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</a:rPr>
              <a:t>Limitation of basic Kneedle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basic algorithm </a:t>
            </a:r>
            <a:r>
              <a:rPr lang="en-US" sz="1300" b="1" dirty="0">
                <a:solidFill>
                  <a:srgbClr val="212121"/>
                </a:solidFill>
              </a:rPr>
              <a:t>treats all objectives as equally important</a:t>
            </a:r>
            <a:r>
              <a:rPr lang="en-US" sz="1300" dirty="0">
                <a:solidFill>
                  <a:srgbClr val="212121"/>
                </a:solidFill>
              </a:rPr>
              <a:t>, which limits it in multi-objective optimization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In real-world scenarios objectives often carry different weights, for example </a:t>
            </a:r>
            <a:r>
              <a:rPr lang="en-US" sz="1300" b="1" dirty="0">
                <a:solidFill>
                  <a:srgbClr val="212121"/>
                </a:solidFill>
              </a:rPr>
              <a:t>accepting a higher miss rate to improve concordance</a:t>
            </a:r>
            <a:r>
              <a:rPr lang="en-US" sz="1300" dirty="0">
                <a:solidFill>
                  <a:srgbClr val="212121"/>
                </a:solidFill>
              </a:rPr>
              <a:t>, or prioritizing </a:t>
            </a:r>
            <a:r>
              <a:rPr lang="en-US" sz="1300" b="1" dirty="0">
                <a:solidFill>
                  <a:srgbClr val="212121"/>
                </a:solidFill>
              </a:rPr>
              <a:t>fewer false positives and false negatives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Weighted extension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We introduce a weighted extension implemented through a </a:t>
            </a:r>
            <a:r>
              <a:rPr lang="en-US" sz="1300" b="1" dirty="0">
                <a:solidFill>
                  <a:srgbClr val="212121"/>
                </a:solidFill>
              </a:rPr>
              <a:t>Weighted Difference Curve (right)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6350000" y="660400"/>
            <a:ext cx="5334000" cy="2794000"/>
          </a:xfrm>
          <a:prstGeom prst="rect">
            <a:avLst/>
          </a:prstGeom>
          <a:solidFill>
            <a:srgbClr val="F2F7FC"/>
          </a:solidFill>
        </p:spPr>
        <p:txBody>
          <a:bodyPr wrap="square" lIns="152400" tIns="101600" rIns="152400" bIns="101600" rtlCol="0" anchor="t">
            <a:noAutofit/>
          </a:bodyPr>
          <a:lstStyle/>
          <a:p>
            <a:endParaRPr lang="en-US"/>
          </a:p>
        </p:txBody>
      </p:sp>
      <p:sp>
        <p:nvSpPr>
          <p:cNvPr id="202" name="Text 202"/>
          <p:cNvSpPr txBox="1"/>
          <p:nvPr/>
        </p:nvSpPr>
        <p:spPr>
          <a:xfrm>
            <a:off x="6553200" y="787400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</a:rPr>
              <a:t>Weighted difference curve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6553200" y="2184400"/>
            <a:ext cx="4953000" cy="1219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Miss rate (x) and concordance (y) are MinMax-normalized to [0, 1]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y weight scales the benefit (concordance); the x weight scales the cost (miss rate)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W = y weight : x weight is the ratio used on the result slides</a:t>
            </a:r>
          </a:p>
        </p:txBody>
      </p:sp>
      <p:pic>
        <p:nvPicPr>
          <p:cNvPr id="8" name="图片 7" descr="图片包含 徽标&#10;&#10;AI 生成的内容可能不正确。">
            <a:extLst>
              <a:ext uri="{FF2B5EF4-FFF2-40B4-BE49-F238E27FC236}">
                <a16:creationId xmlns:a16="http://schemas.microsoft.com/office/drawing/2014/main" id="{4D4D52A4-9CFD-C573-90D3-1A84518B8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550" y="1282700"/>
            <a:ext cx="5168900" cy="762000"/>
          </a:xfrm>
          <a:prstGeom prst="rect">
            <a:avLst/>
          </a:prstGeom>
        </p:spPr>
      </p:pic>
      <p:cxnSp>
        <p:nvCxnSpPr>
          <p:cNvPr id="210" name="Rule 210"/>
          <p:cNvCxnSpPr/>
          <p:nvPr/>
        </p:nvCxnSpPr>
        <p:spPr>
          <a:xfrm>
            <a:off x="508000" y="4089400"/>
            <a:ext cx="3429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20" name="Text 220"/>
          <p:cNvSpPr txBox="1"/>
          <p:nvPr/>
        </p:nvSpPr>
        <p:spPr>
          <a:xfrm>
            <a:off x="508000" y="4216400"/>
            <a:ext cx="3429000" cy="15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</a:rPr>
              <a:t>W &lt; 1: favour retention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Miss rate costs more than concordance gains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knee appears </a:t>
            </a:r>
            <a:r>
              <a:rPr lang="en-US" sz="1300" b="1" dirty="0">
                <a:solidFill>
                  <a:srgbClr val="212121"/>
                </a:solidFill>
              </a:rPr>
              <a:t>earlier</a:t>
            </a:r>
            <a:r>
              <a:rPr lang="en-US" sz="1300" dirty="0">
                <a:solidFill>
                  <a:srgbClr val="212121"/>
                </a:solidFill>
              </a:rPr>
              <a:t>: looser thresholds, more genotypes kept</a:t>
            </a:r>
          </a:p>
        </p:txBody>
      </p:sp>
      <p:cxnSp>
        <p:nvCxnSpPr>
          <p:cNvPr id="211" name="Rule 211"/>
          <p:cNvCxnSpPr/>
          <p:nvPr/>
        </p:nvCxnSpPr>
        <p:spPr>
          <a:xfrm>
            <a:off x="4318000" y="4089400"/>
            <a:ext cx="3429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21" name="Text 221"/>
          <p:cNvSpPr txBox="1"/>
          <p:nvPr/>
        </p:nvSpPr>
        <p:spPr>
          <a:xfrm>
            <a:off x="4318000" y="4216400"/>
            <a:ext cx="3429000" cy="15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</a:rPr>
              <a:t>W = 1: basic Kneedle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weighted curve reduces to the original difference curve D(x)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Both objectives count equally</a:t>
            </a:r>
          </a:p>
        </p:txBody>
      </p:sp>
      <p:cxnSp>
        <p:nvCxnSpPr>
          <p:cNvPr id="212" name="Rule 212"/>
          <p:cNvCxnSpPr/>
          <p:nvPr/>
        </p:nvCxnSpPr>
        <p:spPr>
          <a:xfrm>
            <a:off x="8128000" y="4089400"/>
            <a:ext cx="3429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22" name="Text 222"/>
          <p:cNvSpPr txBox="1"/>
          <p:nvPr/>
        </p:nvSpPr>
        <p:spPr>
          <a:xfrm>
            <a:off x="8128000" y="4216400"/>
            <a:ext cx="3429000" cy="15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</a:rPr>
              <a:t>W &gt; 1: favour concordance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Concordance gains outweigh extra missingness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knee moves </a:t>
            </a:r>
            <a:r>
              <a:rPr lang="en-US" sz="1300" b="1" dirty="0">
                <a:solidFill>
                  <a:srgbClr val="212121"/>
                </a:solidFill>
              </a:rPr>
              <a:t>right</a:t>
            </a:r>
            <a:r>
              <a:rPr lang="en-US" sz="1300" dirty="0">
                <a:solidFill>
                  <a:srgbClr val="212121"/>
                </a:solidFill>
              </a:rPr>
              <a:t>: stricter thresholds, higher miss rate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508000" y="38100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95959"/>
                </a:solidFill>
              </a:rPr>
              <a:t>How the weight ratio moves the knee point</a:t>
            </a:r>
          </a:p>
        </p:txBody>
      </p:sp>
    </p:spTree>
    <p:extLst>
      <p:ext uri="{BB962C8B-B14F-4D97-AF65-F5344CB8AC3E}">
        <p14:creationId xmlns:p14="http://schemas.microsoft.com/office/powerpoint/2010/main" val="134285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31C59B-5898-95A9-51E9-1AFB268E9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B251-2F41-484B-A9AC-DBF987EA2A89}" type="slidenum">
              <a:rPr kumimoji="1" lang="zh-CN" altLang="en-US" smtClean="0"/>
              <a:t>26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310A76-40CE-63BF-4DE0-9E820D516F11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Why the Weighted Difference Curve Is Valid</a:t>
            </a:r>
            <a:endParaRPr lang="zh-CN" altLang="en-US" sz="2400" b="1" u="sng" dirty="0"/>
          </a:p>
        </p:txBody>
      </p:sp>
      <p:sp>
        <p:nvSpPr>
          <p:cNvPr id="201" name="Text 201"/>
          <p:cNvSpPr txBox="1"/>
          <p:nvPr/>
        </p:nvSpPr>
        <p:spPr>
          <a:xfrm>
            <a:off x="508000" y="660400"/>
            <a:ext cx="6604000" cy="381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Mathematical: a linear transformation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D</a:t>
            </a:r>
            <a:r>
              <a:rPr lang="en-US" sz="1400" baseline="-25000" dirty="0">
                <a:solidFill>
                  <a:srgbClr val="212121"/>
                </a:solidFill>
              </a:rPr>
              <a:t>w</a:t>
            </a:r>
            <a:r>
              <a:rPr lang="en-US" sz="1400" dirty="0">
                <a:solidFill>
                  <a:srgbClr val="212121"/>
                </a:solidFill>
              </a:rPr>
              <a:t>(x) is a linear combination of x</a:t>
            </a:r>
            <a:r>
              <a:rPr lang="en-US" sz="1400" baseline="-25000" dirty="0">
                <a:solidFill>
                  <a:srgbClr val="212121"/>
                </a:solidFill>
              </a:rPr>
              <a:t>norm</a:t>
            </a:r>
            <a:r>
              <a:rPr lang="en-US" sz="1400" dirty="0">
                <a:solidFill>
                  <a:srgbClr val="212121"/>
                </a:solidFill>
              </a:rPr>
              <a:t> and y</a:t>
            </a:r>
            <a:r>
              <a:rPr lang="en-US" sz="1400" baseline="-25000" dirty="0">
                <a:solidFill>
                  <a:srgbClr val="212121"/>
                </a:solidFill>
              </a:rPr>
              <a:t>norm</a:t>
            </a:r>
            <a:r>
              <a:rPr lang="en-US" sz="1400" dirty="0">
                <a:solidFill>
                  <a:srgbClr val="212121"/>
                </a:solidFill>
              </a:rPr>
              <a:t>: a projection onto one score axis, like a PCA projection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A linear combination keeps convexity and the extreme points, so Kneedle's detection logic still holds</a:t>
            </a:r>
          </a:p>
          <a:p>
            <a:pPr marL="0" indent="0" algn="l">
              <a:spcBef>
                <a:spcPts val="16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Logical: encodes a stated preference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A weight slider sets how much extra cost we accept for a gain in concordance</a:t>
            </a:r>
          </a:p>
          <a:p>
            <a:pPr marL="0" indent="0" algn="l">
              <a:spcBef>
                <a:spcPts val="16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Geometric: tilts the reference line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The reference line's slope changes from 1 to w</a:t>
            </a:r>
            <a:r>
              <a:rPr lang="en-US" sz="1400" baseline="-25000" dirty="0">
                <a:solidFill>
                  <a:srgbClr val="212121"/>
                </a:solidFill>
              </a:rPr>
              <a:t>y</a:t>
            </a:r>
            <a:r>
              <a:rPr lang="en-US" sz="1400" dirty="0">
                <a:solidFill>
                  <a:srgbClr val="212121"/>
                </a:solidFill>
              </a:rPr>
              <a:t> / w</a:t>
            </a:r>
            <a:r>
              <a:rPr lang="en-US" sz="1400" baseline="-25000" dirty="0">
                <a:solidFill>
                  <a:srgbClr val="212121"/>
                </a:solidFill>
              </a:rPr>
              <a:t>x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</a:t>
            </a:r>
            <a:r>
              <a:rPr lang="en-US" sz="1400" baseline="-25000" dirty="0">
                <a:solidFill>
                  <a:srgbClr val="212121"/>
                </a:solidFill>
              </a:rPr>
              <a:t>y</a:t>
            </a:r>
            <a:r>
              <a:rPr lang="en-US" sz="1400" dirty="0">
                <a:solidFill>
                  <a:srgbClr val="212121"/>
                </a:solidFill>
              </a:rPr>
              <a:t> &gt; w</a:t>
            </a:r>
            <a:r>
              <a:rPr lang="en-US" sz="1400" baseline="-25000" dirty="0">
                <a:solidFill>
                  <a:srgbClr val="212121"/>
                </a:solidFill>
              </a:rPr>
              <a:t>x</a:t>
            </a:r>
            <a:r>
              <a:rPr lang="en-US" sz="1400" dirty="0">
                <a:solidFill>
                  <a:srgbClr val="212121"/>
                </a:solidFill>
              </a:rPr>
              <a:t>: the line tilts up, more x is needed to offset a gain in y, and the knee moves </a:t>
            </a:r>
            <a:r>
              <a:rPr lang="en-US" sz="1400" b="1" dirty="0">
                <a:solidFill>
                  <a:srgbClr val="212121"/>
                </a:solidFill>
              </a:rPr>
              <a:t>right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</a:t>
            </a:r>
            <a:r>
              <a:rPr lang="en-US" sz="1400" baseline="-25000" dirty="0">
                <a:solidFill>
                  <a:srgbClr val="212121"/>
                </a:solidFill>
              </a:rPr>
              <a:t>x</a:t>
            </a:r>
            <a:r>
              <a:rPr lang="en-US" sz="1400" dirty="0">
                <a:solidFill>
                  <a:srgbClr val="212121"/>
                </a:solidFill>
              </a:rPr>
              <a:t> &gt; w</a:t>
            </a:r>
            <a:r>
              <a:rPr lang="en-US" sz="1400" baseline="-25000" dirty="0">
                <a:solidFill>
                  <a:srgbClr val="212121"/>
                </a:solidFill>
              </a:rPr>
              <a:t>y</a:t>
            </a:r>
            <a:r>
              <a:rPr lang="en-US" sz="1400" dirty="0">
                <a:solidFill>
                  <a:srgbClr val="212121"/>
                </a:solidFill>
              </a:rPr>
              <a:t>: the line tilts down and the knee appears </a:t>
            </a:r>
            <a:r>
              <a:rPr lang="en-US" sz="1400" b="1" dirty="0">
                <a:solidFill>
                  <a:srgbClr val="212121"/>
                </a:solidFill>
              </a:rPr>
              <a:t>earlier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508000" y="5867400"/>
            <a:ext cx="111760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Weighting changes only the slope of the reference line, so the knee search is unchanged and the weight sets where the knee lands.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7493000" y="660400"/>
            <a:ext cx="4191000" cy="3810000"/>
          </a:xfrm>
          <a:prstGeom prst="rect">
            <a:avLst/>
          </a:prstGeom>
          <a:solidFill>
            <a:srgbClr val="F2F7FC"/>
          </a:solidFill>
        </p:spPr>
        <p:txBody>
          <a:bodyPr wrap="square" lIns="152400" tIns="101600" rIns="152400" bIns="101600" rtlCol="0" anchor="t">
            <a:noAutofit/>
          </a:bodyPr>
          <a:lstStyle/>
          <a:p>
            <a:endParaRPr lang="en-US"/>
          </a:p>
        </p:txBody>
      </p:sp>
      <p:sp>
        <p:nvSpPr>
          <p:cNvPr id="202" name="Text 202"/>
          <p:cNvSpPr txBox="1"/>
          <p:nvPr/>
        </p:nvSpPr>
        <p:spPr>
          <a:xfrm>
            <a:off x="7670800" y="7874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Weighted difference curve</a:t>
            </a:r>
          </a:p>
        </p:txBody>
      </p:sp>
      <p:pic>
        <p:nvPicPr>
          <p:cNvPr id="11" name="图片 10" descr="图示, 示意图&#10;&#10;AI 生成的内容可能不正确。">
            <a:extLst>
              <a:ext uri="{FF2B5EF4-FFF2-40B4-BE49-F238E27FC236}">
                <a16:creationId xmlns:a16="http://schemas.microsoft.com/office/drawing/2014/main" id="{AE5DF7F7-AD9D-A932-084B-C7E329EEC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00" y="1219200"/>
            <a:ext cx="3683000" cy="800100"/>
          </a:xfrm>
          <a:prstGeom prst="rect">
            <a:avLst/>
          </a:prstGeom>
        </p:spPr>
      </p:pic>
      <p:sp>
        <p:nvSpPr>
          <p:cNvPr id="206" name="Text 206"/>
          <p:cNvSpPr txBox="1"/>
          <p:nvPr/>
        </p:nvSpPr>
        <p:spPr>
          <a:xfrm>
            <a:off x="7670800" y="2235200"/>
            <a:ext cx="3810000" cy="2159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Why it matters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It changes </a:t>
            </a:r>
            <a:r>
              <a:rPr lang="en-US" sz="1300" b="1" dirty="0">
                <a:solidFill>
                  <a:srgbClr val="212121"/>
                </a:solidFill>
              </a:rPr>
              <a:t>how the trade-off between improvement and cost is measured</a:t>
            </a:r>
            <a:r>
              <a:rPr lang="en-US" sz="1300" dirty="0">
                <a:solidFill>
                  <a:srgbClr val="212121"/>
                </a:solidFill>
              </a:rPr>
              <a:t>, not the knee-search procedure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Tilting the reference line makes knee detection </a:t>
            </a:r>
            <a:r>
              <a:rPr lang="en-US" sz="1300" b="1" dirty="0">
                <a:solidFill>
                  <a:srgbClr val="212121"/>
                </a:solidFill>
              </a:rPr>
              <a:t>more sensitive or more conservative</a:t>
            </a:r>
          </a:p>
        </p:txBody>
      </p:sp>
      <p:cxnSp>
        <p:nvCxnSpPr>
          <p:cNvPr id="210" name="Rule 210"/>
          <p:cNvCxnSpPr/>
          <p:nvPr/>
        </p:nvCxnSpPr>
        <p:spPr>
          <a:xfrm>
            <a:off x="508000" y="4673600"/>
            <a:ext cx="5334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cxnSp>
        <p:nvCxnSpPr>
          <p:cNvPr id="211" name="Rule 211"/>
          <p:cNvCxnSpPr/>
          <p:nvPr/>
        </p:nvCxnSpPr>
        <p:spPr>
          <a:xfrm>
            <a:off x="6350000" y="4673600"/>
            <a:ext cx="5334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20" name="Text 220"/>
          <p:cNvSpPr txBox="1"/>
          <p:nvPr/>
        </p:nvSpPr>
        <p:spPr>
          <a:xfrm>
            <a:off x="508000" y="4800600"/>
            <a:ext cx="53340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Low weight on concordance (W = 1/7 – 1/4)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Reference line tilts down; knee stays early at </a:t>
            </a:r>
            <a:r>
              <a:rPr lang="en-US" sz="1300" b="1" dirty="0">
                <a:solidFill>
                  <a:srgbClr val="212121"/>
                </a:solidFill>
              </a:rPr>
              <a:t>DP 8, GQ 20, AF 0.20–0.80</a:t>
            </a:r>
            <a:r>
              <a:rPr lang="en-US" sz="1300" dirty="0">
                <a:solidFill>
                  <a:srgbClr val="212121"/>
                </a:solidFill>
              </a:rPr>
              <a:t> (miss rate 3.53%)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6350000" y="4800600"/>
            <a:ext cx="5334000" cy="10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High weight on concordance (W = 2 – 6)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Reference line tilts up; knee moves right to </a:t>
            </a:r>
            <a:r>
              <a:rPr lang="en-US" sz="1300" b="1" dirty="0">
                <a:solidFill>
                  <a:srgbClr val="212121"/>
                </a:solidFill>
              </a:rPr>
              <a:t>DP 11, GQ 30, AF 0.25–0.75</a:t>
            </a:r>
            <a:r>
              <a:rPr lang="en-US" sz="1300" dirty="0">
                <a:solidFill>
                  <a:srgbClr val="212121"/>
                </a:solidFill>
              </a:rPr>
              <a:t> (miss rate 13.23%)</a:t>
            </a:r>
          </a:p>
        </p:txBody>
      </p:sp>
    </p:spTree>
    <p:extLst>
      <p:ext uri="{BB962C8B-B14F-4D97-AF65-F5344CB8AC3E}">
        <p14:creationId xmlns:p14="http://schemas.microsoft.com/office/powerpoint/2010/main" val="4264820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4DC4B5-2096-E3CC-0F07-5E5E1269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27</a:t>
            </a:fld>
            <a:endParaRPr kumimoji="1"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C6E025-1418-580E-5297-15AC4A8459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18"/>
          <a:stretch>
            <a:fillRect/>
          </a:stretch>
        </p:blipFill>
        <p:spPr bwMode="auto">
          <a:xfrm>
            <a:off x="2095500" y="609600"/>
            <a:ext cx="8001000" cy="492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27958D0-4AA5-CAFB-6F97-D569194FE616}"/>
              </a:ext>
            </a:extLst>
          </p:cNvPr>
          <p:cNvSpPr txBox="1"/>
          <p:nvPr/>
        </p:nvSpPr>
        <p:spPr>
          <a:xfrm>
            <a:off x="0" y="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W = 1/7 to 1/2: DP 8, GQ 20 Holds Through W = 1/4</a:t>
            </a:r>
            <a:endParaRPr lang="zh-CN" altLang="en-US" sz="2400" b="1" u="sng" dirty="0"/>
          </a:p>
        </p:txBody>
      </p:sp>
      <p:sp>
        <p:nvSpPr>
          <p:cNvPr id="2" name="Takeaway">
            <a:extLst>
              <a:ext uri="{FF2B5EF4-FFF2-40B4-BE49-F238E27FC236}">
                <a16:creationId xmlns:a16="http://schemas.microsoft.com/office/drawing/2014/main" id="{304C04B6-48CD-4648-B960-941E45B11AC6}"/>
              </a:ext>
            </a:extLst>
          </p:cNvPr>
          <p:cNvSpPr txBox="1"/>
          <p:nvPr/>
        </p:nvSpPr>
        <p:spPr>
          <a:xfrm>
            <a:off x="508000" y="5715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lIns="0" tIns="0" rtlCol="0" anchor="ctr" anchorCtr="0">
            <a:noAutofit/>
          </a:bodyPr>
          <a:lstStyle/>
          <a:p>
            <a:pPr algn="l"/>
            <a:r>
              <a:rPr lang="en-US" altLang="zh-CN" sz="1400" u="sng">
                <a:solidFill>
                  <a:srgbClr val="212121"/>
                </a:solidFill>
              </a:rPr>
              <a:t>From W = 1/7 to 1/4 the knee stays at DP 8, GQ 20, LAF 0.20, HAF 0.80.</a:t>
            </a:r>
            <a:endParaRPr lang="zh-CN" altLang="en-US" sz="1400" u="sng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911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CBD058-3D57-67E1-09F4-D55C4B93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28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2C193C-09A4-AE90-227E-D4766F98534B}"/>
              </a:ext>
            </a:extLst>
          </p:cNvPr>
          <p:cNvSpPr txBox="1"/>
          <p:nvPr/>
        </p:nvSpPr>
        <p:spPr>
          <a:xfrm>
            <a:off x="0" y="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W = 1 to 6: Thresholds Tighten as Concordance Weighs More</a:t>
            </a:r>
            <a:endParaRPr lang="zh-CN" altLang="en-US" sz="2400" b="1" u="sng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6BDA703-2DB2-F623-5BC9-3429409A67B1}"/>
              </a:ext>
            </a:extLst>
          </p:cNvPr>
          <p:cNvGrpSpPr/>
          <p:nvPr/>
        </p:nvGrpSpPr>
        <p:grpSpPr>
          <a:xfrm>
            <a:off x="2095500" y="609600"/>
            <a:ext cx="8001000" cy="4922024"/>
            <a:chOff x="1406314" y="773111"/>
            <a:chExt cx="9376886" cy="5765801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6AA604B3-AB23-1381-A98A-D98C7196F6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975"/>
            <a:stretch>
              <a:fillRect/>
            </a:stretch>
          </p:blipFill>
          <p:spPr bwMode="auto">
            <a:xfrm>
              <a:off x="1408800" y="1157409"/>
              <a:ext cx="9374400" cy="5381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DBF3CC06-FA25-5153-DE12-9B1FAF66E7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8199"/>
            <a:stretch>
              <a:fillRect/>
            </a:stretch>
          </p:blipFill>
          <p:spPr bwMode="auto">
            <a:xfrm>
              <a:off x="1406314" y="773111"/>
              <a:ext cx="9369429" cy="201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akeaway">
            <a:extLst>
              <a:ext uri="{FF2B5EF4-FFF2-40B4-BE49-F238E27FC236}">
                <a16:creationId xmlns:a16="http://schemas.microsoft.com/office/drawing/2014/main" id="{42DA4D37-EB01-5E41-9E2F-BCFA0E6D9551}"/>
              </a:ext>
            </a:extLst>
          </p:cNvPr>
          <p:cNvSpPr txBox="1"/>
          <p:nvPr/>
        </p:nvSpPr>
        <p:spPr>
          <a:xfrm>
            <a:off x="508000" y="5715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lIns="0" tIns="0" rtlCol="0" anchor="ctr" anchorCtr="0">
            <a:noAutofit/>
          </a:bodyPr>
          <a:lstStyle/>
          <a:p>
            <a:pPr algn="l"/>
            <a:r>
              <a:rPr lang="en-US" altLang="zh-CN" sz="1400" u="sng">
                <a:solidFill>
                  <a:srgbClr val="212121"/>
                </a:solidFill>
              </a:rPr>
              <a:t>As W rises from 1 to 6, the knee moves to stricter DP, GQ and AF thresholds.</a:t>
            </a:r>
            <a:endParaRPr lang="zh-CN" altLang="en-US" sz="1400" u="sng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242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869F8-F632-F63C-B48D-C599E830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29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BB1460-ECC9-4442-AB33-9AAC0616A55B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More Weight on Concordance Raises Thresholds and Miss Rate</a:t>
            </a:r>
            <a:endParaRPr lang="zh-CN" altLang="en-US" sz="2400" b="1" u="sng" dirty="0"/>
          </a:p>
        </p:txBody>
      </p:sp>
      <p:graphicFrame>
        <p:nvGraphicFramePr>
          <p:cNvPr id="201" name="Table 201"/>
          <p:cNvGraphicFramePr>
            <a:graphicFrameLocks noGrp="1"/>
          </p:cNvGraphicFramePr>
          <p:nvPr/>
        </p:nvGraphicFramePr>
        <p:xfrm>
          <a:off x="508000" y="990600"/>
          <a:ext cx="11176000" cy="2438400"/>
        </p:xfrm>
        <a:graphic>
          <a:graphicData uri="http://schemas.openxmlformats.org/drawingml/2006/table">
            <a:tbl>
              <a:tblPr firstRow="1"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 = 1/7 – 1/4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 = 1/3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 = 1/2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 = 1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 = 2 – 6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DP threshold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9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9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9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11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GQ threshold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20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20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20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30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LAF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0.20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0.20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0.25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0.25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0.25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HAF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0.80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0.80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0.80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0.75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0.75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Concordance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99.975%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99.978%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99.979%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99.979%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99.984%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Miss rate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F3864"/>
                          </a:solidFill>
                        </a:rPr>
                        <a:t>3.534%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4.370%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5.259%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5.551%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13.232%</a:t>
                      </a:r>
                    </a:p>
                  </a:txBody>
                  <a:tcPr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0" name="Text 200"/>
          <p:cNvSpPr txBox="1"/>
          <p:nvPr/>
        </p:nvSpPr>
        <p:spPr>
          <a:xfrm>
            <a:off x="508000" y="635000"/>
            <a:ext cx="111760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</a:rPr>
              <a:t>Knee point and metrics at each weight interval (W = weight on concordance : weight on miss rate; shaded column = recommended setting)</a:t>
            </a:r>
          </a:p>
        </p:txBody>
      </p:sp>
      <p:cxnSp>
        <p:nvCxnSpPr>
          <p:cNvPr id="210" name="Rule 210"/>
          <p:cNvCxnSpPr/>
          <p:nvPr/>
        </p:nvCxnSpPr>
        <p:spPr>
          <a:xfrm>
            <a:off x="508000" y="3810000"/>
            <a:ext cx="5334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cxnSp>
        <p:nvCxnSpPr>
          <p:cNvPr id="211" name="Rule 211"/>
          <p:cNvCxnSpPr/>
          <p:nvPr/>
        </p:nvCxnSpPr>
        <p:spPr>
          <a:xfrm>
            <a:off x="6350000" y="3810000"/>
            <a:ext cx="5334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2" name="Text 202"/>
          <p:cNvSpPr txBox="1"/>
          <p:nvPr/>
        </p:nvSpPr>
        <p:spPr>
          <a:xfrm>
            <a:off x="508000" y="3937000"/>
            <a:ext cx="5334000" cy="190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</a:rPr>
              <a:t>Weights and recommended parameters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As W shifts from 1:7 to 6:1, the selection </a:t>
            </a:r>
            <a:r>
              <a:rPr lang="en-US" sz="1300" b="1" dirty="0">
                <a:solidFill>
                  <a:srgbClr val="212121"/>
                </a:solidFill>
              </a:rPr>
              <a:t>prioritizes concordance more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DP</a:t>
            </a:r>
            <a:r>
              <a:rPr lang="en-US" sz="1300" dirty="0">
                <a:solidFill>
                  <a:srgbClr val="212121"/>
                </a:solidFill>
              </a:rPr>
              <a:t> rises from 8 to 11 and </a:t>
            </a:r>
            <a:r>
              <a:rPr lang="en-US" sz="1300" b="1" dirty="0">
                <a:solidFill>
                  <a:srgbClr val="212121"/>
                </a:solidFill>
              </a:rPr>
              <a:t>GQ</a:t>
            </a:r>
            <a:r>
              <a:rPr lang="en-US" sz="1300" dirty="0">
                <a:solidFill>
                  <a:srgbClr val="212121"/>
                </a:solidFill>
              </a:rPr>
              <a:t> from 20 to 30: stricter depth and quality criteria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AF</a:t>
            </a:r>
            <a:r>
              <a:rPr lang="en-US" sz="1300" dirty="0">
                <a:solidFill>
                  <a:srgbClr val="212121"/>
                </a:solidFill>
              </a:rPr>
              <a:t>: LAF rises from 0.20 to 0.25 and HAF falls from 0.80 to 0.75, so the heterozygote allele-fraction interval </a:t>
            </a:r>
            <a:r>
              <a:rPr lang="en-US" sz="1300" b="1" dirty="0">
                <a:solidFill>
                  <a:srgbClr val="212121"/>
                </a:solidFill>
              </a:rPr>
              <a:t>narrows</a:t>
            </a:r>
            <a:r>
              <a:rPr lang="en-US" sz="1300" dirty="0">
                <a:solidFill>
                  <a:srgbClr val="212121"/>
                </a:solidFill>
              </a:rPr>
              <a:t> as W increases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6350000" y="3937000"/>
            <a:ext cx="5334000" cy="190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</a:rPr>
              <a:t>Consistency metrics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Concordance</a:t>
            </a:r>
            <a:r>
              <a:rPr lang="en-US" sz="1300" dirty="0">
                <a:solidFill>
                  <a:srgbClr val="212121"/>
                </a:solidFill>
              </a:rPr>
              <a:t> rises from 99.975% to 99.984% (+0.009 percentage points)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b="1" dirty="0">
                <a:solidFill>
                  <a:srgbClr val="212121"/>
                </a:solidFill>
              </a:rPr>
              <a:t>Miss rate</a:t>
            </a:r>
            <a:r>
              <a:rPr lang="en-US" sz="1300" dirty="0">
                <a:solidFill>
                  <a:srgbClr val="212121"/>
                </a:solidFill>
              </a:rPr>
              <a:t> rises from 3.534% to 13.232%, nearly 4 times higher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knee moves toward the </a:t>
            </a:r>
            <a:r>
              <a:rPr lang="en-US" sz="1300" b="1" dirty="0">
                <a:solidFill>
                  <a:srgbClr val="212121"/>
                </a:solidFill>
              </a:rPr>
              <a:t>upper right</a:t>
            </a:r>
            <a:r>
              <a:rPr lang="en-US" sz="1300" dirty="0">
                <a:solidFill>
                  <a:srgbClr val="212121"/>
                </a:solidFill>
              </a:rPr>
              <a:t> as W increases: the algorithm trades data volume for consistency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508000" y="59690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Beyond the low-W range, a 0.009-point concordance gain costs almost 10 percentage points more missing genotypes.</a:t>
            </a:r>
          </a:p>
        </p:txBody>
      </p:sp>
    </p:spTree>
    <p:extLst>
      <p:ext uri="{BB962C8B-B14F-4D97-AF65-F5344CB8AC3E}">
        <p14:creationId xmlns:p14="http://schemas.microsoft.com/office/powerpoint/2010/main" val="3420055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185309-042C-16CD-2F8E-30F9C17F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30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25FB22-6FDD-8695-16B3-AD17F4A2848C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W = 1/7 to 1/4: One Setting, and 15x Misses More Genotypes</a:t>
            </a:r>
            <a:endParaRPr lang="zh-CN" altLang="en-US" sz="2400" b="1" u="sng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6BAF594-F5C8-9170-59D1-2C1E47350B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2" b="65819"/>
          <a:stretch>
            <a:fillRect/>
          </a:stretch>
        </p:blipFill>
        <p:spPr bwMode="auto">
          <a:xfrm>
            <a:off x="190500" y="508000"/>
            <a:ext cx="59055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150234-5867-D486-CCA5-02B8AD82C2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574"/>
          <a:stretch>
            <a:fillRect/>
          </a:stretch>
        </p:blipFill>
        <p:spPr>
          <a:xfrm>
            <a:off x="6350000" y="711200"/>
            <a:ext cx="5334000" cy="431800"/>
          </a:xfrm>
          <a:prstGeom prst="rect">
            <a:avLst/>
          </a:prstGeom>
        </p:spPr>
      </p:pic>
      <p:sp>
        <p:nvSpPr>
          <p:cNvPr id="201" name="Text 201"/>
          <p:cNvSpPr txBox="1"/>
          <p:nvPr/>
        </p:nvSpPr>
        <p:spPr>
          <a:xfrm>
            <a:off x="6477000" y="1397000"/>
            <a:ext cx="5207000" cy="381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Same knee for all four weights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DP 8, GQ 20, LAF 0.20, HAF 0.80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All samples: concordance 99.975%, miss rate 3.53%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15x against 30x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Miss rate: </a:t>
            </a:r>
            <a:r>
              <a:rPr lang="en-US" sz="1400" b="1" dirty="0">
                <a:solidFill>
                  <a:srgbClr val="212121"/>
                </a:solidFill>
              </a:rPr>
              <a:t>3.84%</a:t>
            </a:r>
            <a:r>
              <a:rPr lang="en-US" sz="1400" dirty="0">
                <a:solidFill>
                  <a:srgbClr val="212121"/>
                </a:solidFill>
              </a:rPr>
              <a:t> at 15x against </a:t>
            </a:r>
            <a:r>
              <a:rPr lang="en-US" sz="1400" b="1" dirty="0">
                <a:solidFill>
                  <a:srgbClr val="212121"/>
                </a:solidFill>
              </a:rPr>
              <a:t>2.10%</a:t>
            </a:r>
            <a:r>
              <a:rPr lang="en-US" sz="1400" dirty="0">
                <a:solidFill>
                  <a:srgbClr val="212121"/>
                </a:solidFill>
              </a:rPr>
              <a:t> at 30x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Concordance: 99.977% against 99.969%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False positive and false negative rates: ≤ 0.017% on both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477000" y="5461000"/>
            <a:ext cx="52070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At the recommended setting the platforms agree on accuracy and differ only in missingness.</a:t>
            </a:r>
          </a:p>
        </p:txBody>
      </p:sp>
    </p:spTree>
    <p:extLst>
      <p:ext uri="{BB962C8B-B14F-4D97-AF65-F5344CB8AC3E}">
        <p14:creationId xmlns:p14="http://schemas.microsoft.com/office/powerpoint/2010/main" val="2102119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46664E-2BE3-5D15-D514-D769A065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31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7FB000-25AA-6DC9-5612-941957A97574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W = 1/3 to 2: Miss Rate Rises from 4.4% to 13.2%</a:t>
            </a:r>
            <a:endParaRPr lang="zh-CN" altLang="en-US" sz="2400" b="1" u="sng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048AA8-830C-64C1-11BB-70F913C8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574"/>
          <a:stretch>
            <a:fillRect/>
          </a:stretch>
        </p:blipFill>
        <p:spPr>
          <a:xfrm>
            <a:off x="6350000" y="711200"/>
            <a:ext cx="5334000" cy="43180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9A9694B2-CD97-33E0-4DFD-1626D2A872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53" b="36627"/>
          <a:stretch>
            <a:fillRect/>
          </a:stretch>
        </p:blipFill>
        <p:spPr bwMode="auto">
          <a:xfrm>
            <a:off x="190500" y="508000"/>
            <a:ext cx="5905500" cy="600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" name="Text 201"/>
          <p:cNvSpPr txBox="1"/>
          <p:nvPr/>
        </p:nvSpPr>
        <p:spPr>
          <a:xfrm>
            <a:off x="6477000" y="1397000"/>
            <a:ext cx="5207000" cy="381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Knee moves to stricter settings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 = 1/3: DP 9, GQ 20, LAF 0.20, HAF 0.80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 = 1/2 and 1: DP 9, GQ 20, LAF 0.25 (HAF 0.80, then 0.75)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W = 2: DP 11, GQ 30, LAF 0.25, HAF 0.75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All samples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Concordance: 99.978% → 99.984%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Miss rate: 4.37% → 13.23%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477000" y="5461000"/>
            <a:ext cx="52070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From W = 1 to 2, a 0.005-point concordance gain more than doubles the miss rate.</a:t>
            </a:r>
          </a:p>
        </p:txBody>
      </p:sp>
    </p:spTree>
    <p:extLst>
      <p:ext uri="{BB962C8B-B14F-4D97-AF65-F5344CB8AC3E}">
        <p14:creationId xmlns:p14="http://schemas.microsoft.com/office/powerpoint/2010/main" val="1087626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D878E1-D90B-EDAD-28FB-9A6A981F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32</a:t>
            </a:fld>
            <a:endParaRPr kumimoji="1" lang="zh-CN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8BD6C5F-873E-A903-ED74-FAABB1EC7E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16" b="7314"/>
          <a:stretch>
            <a:fillRect/>
          </a:stretch>
        </p:blipFill>
        <p:spPr bwMode="auto">
          <a:xfrm>
            <a:off x="190500" y="508000"/>
            <a:ext cx="59055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E7E7521-23EA-967C-B92E-6D0D2180C13B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W = 3 to 6: Knee Stays at DP 11, GQ 30</a:t>
            </a:r>
            <a:endParaRPr lang="zh-CN" altLang="en-US" sz="2400" b="1" u="sng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DA9470-1092-1247-2D03-12EBB972F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574"/>
          <a:stretch>
            <a:fillRect/>
          </a:stretch>
        </p:blipFill>
        <p:spPr>
          <a:xfrm>
            <a:off x="6350000" y="711200"/>
            <a:ext cx="5334000" cy="431800"/>
          </a:xfrm>
          <a:prstGeom prst="rect">
            <a:avLst/>
          </a:prstGeom>
        </p:spPr>
      </p:pic>
      <p:sp>
        <p:nvSpPr>
          <p:cNvPr id="201" name="Text 201"/>
          <p:cNvSpPr txBox="1"/>
          <p:nvPr/>
        </p:nvSpPr>
        <p:spPr>
          <a:xfrm>
            <a:off x="6477000" y="1397000"/>
            <a:ext cx="5207000" cy="381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</a:rPr>
              <a:t>No further change past W = 2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DP 11, GQ 30, LAF 0.25, HAF 0.75 for every weight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All samples: concordance 99.984%, miss rate 13.23%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1F3864"/>
                </a:solidFill>
              </a:rPr>
              <a:t>15x against 30x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Miss rate: </a:t>
            </a:r>
            <a:r>
              <a:rPr lang="en-US" sz="1400" b="1" dirty="0">
                <a:solidFill>
                  <a:srgbClr val="212121"/>
                </a:solidFill>
              </a:rPr>
              <a:t>14.15%</a:t>
            </a:r>
            <a:r>
              <a:rPr lang="en-US" sz="1400" dirty="0">
                <a:solidFill>
                  <a:srgbClr val="212121"/>
                </a:solidFill>
              </a:rPr>
              <a:t> at 15x against </a:t>
            </a:r>
            <a:r>
              <a:rPr lang="en-US" sz="1400" b="1" dirty="0">
                <a:solidFill>
                  <a:srgbClr val="212121"/>
                </a:solidFill>
              </a:rPr>
              <a:t>8.94%</a:t>
            </a:r>
            <a:r>
              <a:rPr lang="en-US" sz="1400" dirty="0">
                <a:solidFill>
                  <a:srgbClr val="212121"/>
                </a:solidFill>
              </a:rPr>
              <a:t> at 30x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Concordance: 99.987% against 99.973%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477000" y="5461000"/>
            <a:ext cx="5207000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Strict settings widen the 15x–30x missingness gap to 5.2 points.</a:t>
            </a:r>
          </a:p>
        </p:txBody>
      </p:sp>
    </p:spTree>
    <p:extLst>
      <p:ext uri="{BB962C8B-B14F-4D97-AF65-F5344CB8AC3E}">
        <p14:creationId xmlns:p14="http://schemas.microsoft.com/office/powerpoint/2010/main" val="3365690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B1CDAC-8E85-D673-8EC7-FDC7C257F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33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DB4A67-4BD9-BA0B-B157-B52A08A9D544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After Tuning, 15x and 30x Differ Mainly in Miss Rate</a:t>
            </a:r>
            <a:endParaRPr lang="zh-CN" altLang="en-US" sz="2400" b="1" u="sng" dirty="0"/>
          </a:p>
        </p:txBody>
      </p:sp>
      <p:sp>
        <p:nvSpPr>
          <p:cNvPr id="200" name="Text 200"/>
          <p:cNvSpPr txBox="1"/>
          <p:nvPr/>
        </p:nvSpPr>
        <p:spPr>
          <a:xfrm>
            <a:off x="508000" y="584200"/>
            <a:ext cx="11176000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95959"/>
                </a:solidFill>
              </a:rPr>
              <a:t>Across all weights tested (W = 1/7 to 6), comparing 15x, 30x and all samples.</a:t>
            </a:r>
          </a:p>
        </p:txBody>
      </p:sp>
      <p:cxnSp>
        <p:nvCxnSpPr>
          <p:cNvPr id="210" name="Rule 210"/>
          <p:cNvCxnSpPr/>
          <p:nvPr/>
        </p:nvCxnSpPr>
        <p:spPr>
          <a:xfrm>
            <a:off x="508000" y="1016000"/>
            <a:ext cx="3429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1" name="Text 201"/>
          <p:cNvSpPr txBox="1"/>
          <p:nvPr/>
        </p:nvSpPr>
        <p:spPr>
          <a:xfrm>
            <a:off x="508000" y="1143000"/>
            <a:ext cx="3429000" cy="2095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Genotype concordance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Remains </a:t>
            </a:r>
            <a:r>
              <a:rPr lang="en-US" sz="1300" b="1" dirty="0">
                <a:solidFill>
                  <a:srgbClr val="212121"/>
                </a:solidFill>
              </a:rPr>
              <a:t>high for all three platforms</a:t>
            </a:r>
            <a:r>
              <a:rPr lang="en-US" sz="1300" dirty="0">
                <a:solidFill>
                  <a:srgbClr val="212121"/>
                </a:solidFill>
              </a:rPr>
              <a:t> across all weight settings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After global tuning, 15x and 30x show </a:t>
            </a:r>
            <a:r>
              <a:rPr lang="en-US" sz="1300" b="1" dirty="0">
                <a:solidFill>
                  <a:srgbClr val="212121"/>
                </a:solidFill>
              </a:rPr>
              <a:t>highly comparable</a:t>
            </a:r>
            <a:r>
              <a:rPr lang="en-US" sz="1300" dirty="0">
                <a:solidFill>
                  <a:srgbClr val="212121"/>
                </a:solidFill>
              </a:rPr>
              <a:t> concordance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Cross-platform differences in concordance have been </a:t>
            </a:r>
            <a:r>
              <a:rPr lang="en-US" sz="1300" b="1" dirty="0">
                <a:solidFill>
                  <a:srgbClr val="212121"/>
                </a:solidFill>
              </a:rPr>
              <a:t>substantially reduced</a:t>
            </a:r>
          </a:p>
        </p:txBody>
      </p:sp>
      <p:cxnSp>
        <p:nvCxnSpPr>
          <p:cNvPr id="211" name="Rule 211"/>
          <p:cNvCxnSpPr/>
          <p:nvPr/>
        </p:nvCxnSpPr>
        <p:spPr>
          <a:xfrm>
            <a:off x="4318000" y="1016000"/>
            <a:ext cx="3429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2" name="Text 202"/>
          <p:cNvSpPr txBox="1"/>
          <p:nvPr/>
        </p:nvSpPr>
        <p:spPr>
          <a:xfrm>
            <a:off x="4318000" y="1143000"/>
            <a:ext cx="3429000" cy="2095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Genotype miss rate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Remains the </a:t>
            </a:r>
            <a:r>
              <a:rPr lang="en-US" sz="1300" b="1" dirty="0">
                <a:solidFill>
                  <a:srgbClr val="212121"/>
                </a:solidFill>
              </a:rPr>
              <a:t>major residual difference</a:t>
            </a:r>
            <a:r>
              <a:rPr lang="en-US" sz="1300" dirty="0">
                <a:solidFill>
                  <a:srgbClr val="212121"/>
                </a:solidFill>
              </a:rPr>
              <a:t> across platforms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Under every setting, </a:t>
            </a:r>
            <a:r>
              <a:rPr lang="en-US" sz="1300" b="1" dirty="0">
                <a:solidFill>
                  <a:srgbClr val="212121"/>
                </a:solidFill>
              </a:rPr>
              <a:t>15x consistently shows higher missingness</a:t>
            </a:r>
            <a:r>
              <a:rPr lang="en-US" sz="1300" dirty="0">
                <a:solidFill>
                  <a:srgbClr val="212121"/>
                </a:solidFill>
              </a:rPr>
              <a:t> than 30x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Depth-related missingness </a:t>
            </a:r>
            <a:r>
              <a:rPr lang="en-US" sz="1300" b="1" dirty="0">
                <a:solidFill>
                  <a:srgbClr val="212121"/>
                </a:solidFill>
              </a:rPr>
              <a:t>cannot be fully eliminated</a:t>
            </a:r>
            <a:r>
              <a:rPr lang="en-US" sz="1300" dirty="0">
                <a:solidFill>
                  <a:srgbClr val="212121"/>
                </a:solidFill>
              </a:rPr>
              <a:t> by parameter tuning alone</a:t>
            </a:r>
          </a:p>
        </p:txBody>
      </p:sp>
      <p:cxnSp>
        <p:nvCxnSpPr>
          <p:cNvPr id="212" name="Rule 212"/>
          <p:cNvCxnSpPr/>
          <p:nvPr/>
        </p:nvCxnSpPr>
        <p:spPr>
          <a:xfrm>
            <a:off x="8128000" y="1016000"/>
            <a:ext cx="3429000" cy="0"/>
          </a:xfrm>
          <a:prstGeom prst="line">
            <a:avLst/>
          </a:prstGeom>
          <a:ln w="28575">
            <a:solidFill>
              <a:srgbClr val="1F3864"/>
            </a:solidFill>
          </a:ln>
        </p:spPr>
      </p:cxnSp>
      <p:sp>
        <p:nvSpPr>
          <p:cNvPr id="203" name="Text 203"/>
          <p:cNvSpPr txBox="1"/>
          <p:nvPr/>
        </p:nvSpPr>
        <p:spPr>
          <a:xfrm>
            <a:off x="8128000" y="1143000"/>
            <a:ext cx="3429000" cy="2095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False positive &amp; false negative rates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After tuning, 15x and 30x are </a:t>
            </a:r>
            <a:r>
              <a:rPr lang="en-US" sz="1300" b="1" dirty="0">
                <a:solidFill>
                  <a:srgbClr val="212121"/>
                </a:solidFill>
              </a:rPr>
              <a:t>broadly comparable</a:t>
            </a:r>
            <a:r>
              <a:rPr lang="en-US" sz="1300" dirty="0">
                <a:solidFill>
                  <a:srgbClr val="212121"/>
                </a:solidFill>
              </a:rPr>
              <a:t> on both rates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remaining discrepancy is no longer driven by concordance or error rates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It is mainly reflected in the </a:t>
            </a:r>
            <a:r>
              <a:rPr lang="en-US" sz="1300" b="1" dirty="0">
                <a:solidFill>
                  <a:srgbClr val="212121"/>
                </a:solidFill>
              </a:rPr>
              <a:t>persistent imbalance of missingness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508000" y="5791200"/>
            <a:ext cx="11176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u="sng" dirty="0">
                <a:solidFill>
                  <a:srgbClr val="212121"/>
                </a:solidFill>
              </a:rPr>
              <a:t>Global tuning largely harmonized 15x and 30x on concordance and error rates; the remaining cross-platform gap is driven mainly by a persistent imbalance in genotype missingness.</a:t>
            </a:r>
          </a:p>
        </p:txBody>
      </p:sp>
      <p:graphicFrame>
        <p:nvGraphicFramePr>
          <p:cNvPr id="230" name="Table 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034935"/>
              </p:ext>
            </p:extLst>
          </p:nvPr>
        </p:nvGraphicFramePr>
        <p:xfrm>
          <a:off x="508000" y="3683000"/>
          <a:ext cx="11176000" cy="132080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Concordance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Miss rate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False positive rate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False negative rate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All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99.975%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3.53%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0.013%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0.011%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30x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99.969%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2.10%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0.017%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0.015%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15x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99.977%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</a:rPr>
                        <a:t>3.84%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0.013%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</a:rPr>
                        <a:t>0.010%</a:t>
                      </a:r>
                    </a:p>
                  </a:txBody>
                  <a:tcPr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1" name="Text 231"/>
          <p:cNvSpPr txBox="1"/>
          <p:nvPr/>
        </p:nvSpPr>
        <p:spPr>
          <a:xfrm>
            <a:off x="508000" y="3327400"/>
            <a:ext cx="11176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</a:rPr>
              <a:t>At the recommended setting (DP 8, GQ 20, LAF 0.20, HAF 0.80)</a:t>
            </a:r>
          </a:p>
        </p:txBody>
      </p:sp>
    </p:spTree>
    <p:extLst>
      <p:ext uri="{BB962C8B-B14F-4D97-AF65-F5344CB8AC3E}">
        <p14:creationId xmlns:p14="http://schemas.microsoft.com/office/powerpoint/2010/main" val="1057155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97D4AB-E0EF-852D-682A-7A440C26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34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8A6D8A-8A42-9B1A-3D34-41B5B024F9EA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u="sng" dirty="0"/>
              <a:t>Conclusion</a:t>
            </a:r>
            <a:endParaRPr lang="zh-CN" altLang="en-US" sz="2400" b="1" u="sng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46524D-9585-B9E0-85F1-F791BFB481FD}"/>
              </a:ext>
            </a:extLst>
          </p:cNvPr>
          <p:cNvGrpSpPr/>
          <p:nvPr/>
        </p:nvGrpSpPr>
        <p:grpSpPr>
          <a:xfrm>
            <a:off x="304800" y="558800"/>
            <a:ext cx="3417256" cy="2921000"/>
            <a:chOff x="142955" y="1159960"/>
            <a:chExt cx="6086929" cy="489547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1F5BD63-3F73-AA7F-38C3-E0CB76E2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7936" r="65385" b="48254"/>
            <a:stretch>
              <a:fillRect/>
            </a:stretch>
          </p:blipFill>
          <p:spPr>
            <a:xfrm>
              <a:off x="142955" y="1159960"/>
              <a:ext cx="5953045" cy="4895472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4C60AEF-D53E-A30B-07BA-F32ECEEBC821}"/>
                </a:ext>
              </a:extLst>
            </p:cNvPr>
            <p:cNvSpPr/>
            <p:nvPr/>
          </p:nvSpPr>
          <p:spPr>
            <a:xfrm>
              <a:off x="5700045" y="1700613"/>
              <a:ext cx="529839" cy="34525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E76AAB9-EBED-09E9-D8E2-C018D2A89764}"/>
              </a:ext>
            </a:extLst>
          </p:cNvPr>
          <p:cNvGrpSpPr/>
          <p:nvPr/>
        </p:nvGrpSpPr>
        <p:grpSpPr>
          <a:xfrm>
            <a:off x="304800" y="3581400"/>
            <a:ext cx="2775626" cy="3048000"/>
            <a:chOff x="6389760" y="348191"/>
            <a:chExt cx="4011395" cy="440503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00BB668-0A26-4A1C-9026-780663AF2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676" t="20075" b="70391"/>
            <a:stretch>
              <a:fillRect/>
            </a:stretch>
          </p:blipFill>
          <p:spPr>
            <a:xfrm>
              <a:off x="6389760" y="705864"/>
              <a:ext cx="4011395" cy="2893997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812F7A5-CBF5-C94D-CB51-EEFF5825E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676" t="29981" b="65743"/>
            <a:stretch>
              <a:fillRect/>
            </a:stretch>
          </p:blipFill>
          <p:spPr>
            <a:xfrm>
              <a:off x="6655438" y="3599861"/>
              <a:ext cx="3564705" cy="115336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5BD1916-566F-FCA3-9BB6-7E601FAA7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8962" t="1640" r="39850" b="97249"/>
            <a:stretch>
              <a:fillRect/>
            </a:stretch>
          </p:blipFill>
          <p:spPr>
            <a:xfrm>
              <a:off x="7364802" y="348191"/>
              <a:ext cx="2061309" cy="378656"/>
            </a:xfrm>
            <a:prstGeom prst="rect">
              <a:avLst/>
            </a:prstGeom>
          </p:spPr>
        </p:pic>
      </p:grpSp>
      <p:sp>
        <p:nvSpPr>
          <p:cNvPr id="200" name="Recommended"/>
          <p:cNvSpPr/>
          <p:nvPr/>
        </p:nvSpPr>
        <p:spPr>
          <a:xfrm>
            <a:off x="4013200" y="635000"/>
            <a:ext cx="7670800" cy="558800"/>
          </a:xfrm>
          <a:prstGeom prst="rect">
            <a:avLst/>
          </a:prstGeom>
          <a:solidFill>
            <a:srgbClr val="DEEAF6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3864"/>
                </a:solidFill>
              </a:rPr>
              <a:t>Recommended:  DP = 8,  GQ = 20,  LAF = 0.20,  HAF = 0.80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4013200" y="1320800"/>
            <a:ext cx="7670800" cy="452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</a:rPr>
              <a:t>Stable trade-off across a weight interval</a:t>
            </a:r>
          </a:p>
          <a:p>
            <a:pPr marL="171450" indent="-171450">
              <a:lnSpc>
                <a:spcPct val="100000"/>
              </a:lnSpc>
              <a:spcBef>
                <a:spcPts val="25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The same combination is selected for every W from 1/7 to 1/4, so it is </a:t>
            </a:r>
            <a:r>
              <a:rPr lang="en-US" sz="1300" b="1" dirty="0">
                <a:solidFill>
                  <a:srgbClr val="212121"/>
                </a:solidFill>
              </a:rPr>
              <a:t>not specific to a single weighting scheme</a:t>
            </a:r>
          </a:p>
          <a:p>
            <a:pPr marL="171450" indent="-171450">
              <a:lnSpc>
                <a:spcPct val="100000"/>
              </a:lnSpc>
              <a:spcBef>
                <a:spcPts val="25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Within this interval it stays on the Pareto front and is identified as the knee point, supporting its </a:t>
            </a:r>
            <a:r>
              <a:rPr lang="en-US" sz="1300" b="1" dirty="0">
                <a:solidFill>
                  <a:srgbClr val="212121"/>
                </a:solidFill>
              </a:rPr>
              <a:t>robustness</a:t>
            </a:r>
            <a:r>
              <a:rPr lang="en-US" sz="1300" dirty="0">
                <a:solidFill>
                  <a:srgbClr val="212121"/>
                </a:solidFill>
              </a:rPr>
              <a:t> as a practical trade-off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Balanced overall performance</a:t>
            </a:r>
          </a:p>
          <a:p>
            <a:pPr marL="171450" indent="-171450">
              <a:lnSpc>
                <a:spcPct val="100000"/>
              </a:lnSpc>
              <a:spcBef>
                <a:spcPts val="25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Concordance stays high (</a:t>
            </a:r>
            <a:r>
              <a:rPr lang="en-US" sz="1300" b="1" dirty="0">
                <a:solidFill>
                  <a:srgbClr val="212121"/>
                </a:solidFill>
              </a:rPr>
              <a:t>99.975%</a:t>
            </a:r>
            <a:r>
              <a:rPr lang="en-US" sz="1300" dirty="0">
                <a:solidFill>
                  <a:srgbClr val="212121"/>
                </a:solidFill>
              </a:rPr>
              <a:t>) while the miss rate stays moderate (</a:t>
            </a:r>
            <a:r>
              <a:rPr lang="en-US" sz="1300" b="1" dirty="0">
                <a:solidFill>
                  <a:srgbClr val="212121"/>
                </a:solidFill>
              </a:rPr>
              <a:t>3.534%</a:t>
            </a:r>
            <a:r>
              <a:rPr lang="en-US" sz="1300" dirty="0">
                <a:solidFill>
                  <a:srgbClr val="212121"/>
                </a:solidFill>
              </a:rPr>
              <a:t>): a reasonable balance between reliability and retention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Substantial cross-platform harmonization</a:t>
            </a:r>
          </a:p>
          <a:p>
            <a:pPr marL="171450" indent="-171450">
              <a:lnSpc>
                <a:spcPct val="100000"/>
              </a:lnSpc>
              <a:spcBef>
                <a:spcPts val="25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15x and 30x are highly comparable in concordance, false positive rate and false negative rate; global tuning reduces platform differences in the main accuracy metrics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1F3864"/>
                </a:solidFill>
              </a:rPr>
              <a:t>Residual discrepancy driven by missingness</a:t>
            </a:r>
          </a:p>
          <a:p>
            <a:pPr marL="171450" indent="-171450">
              <a:lnSpc>
                <a:spcPct val="100000"/>
              </a:lnSpc>
              <a:spcBef>
                <a:spcPts val="250"/>
              </a:spcBef>
              <a:buFont typeface="Arial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15x consistently shows </a:t>
            </a:r>
            <a:r>
              <a:rPr lang="en-US" sz="1300" b="1" dirty="0">
                <a:solidFill>
                  <a:srgbClr val="212121"/>
                </a:solidFill>
              </a:rPr>
              <a:t>higher missingness</a:t>
            </a:r>
            <a:r>
              <a:rPr lang="en-US" sz="1300" dirty="0">
                <a:solidFill>
                  <a:srgbClr val="212121"/>
                </a:solidFill>
              </a:rPr>
              <a:t> than 30x (3.84% vs 2.10%); depth-related missingness cannot be fully eliminated by tuning alone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4013200" y="5969000"/>
            <a:ext cx="7874000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212121"/>
                </a:solidFill>
              </a:rPr>
              <a:t>Use DP 8, GQ 20, AF 0.20–0.80 as the default WGS genotype QC for this cohort.</a:t>
            </a:r>
          </a:p>
        </p:txBody>
      </p:sp>
    </p:spTree>
    <p:extLst>
      <p:ext uri="{BB962C8B-B14F-4D97-AF65-F5344CB8AC3E}">
        <p14:creationId xmlns:p14="http://schemas.microsoft.com/office/powerpoint/2010/main" val="40444965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1AE29-F497-EA10-EF7C-E552BD92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35</a:t>
            </a:fld>
            <a:endParaRPr kumimoji="1" lang="zh-CN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7258D3F-02AD-AD7A-177E-2D3E1DC6F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558800"/>
            <a:ext cx="8657813" cy="596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A41839BA-A1A2-7443-B0A2-70BCC50C3CF9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 sz="2400" b="1" u="sng">
                <a:solidFill>
                  <a:srgbClr val="000000"/>
                </a:solidFill>
              </a:rPr>
              <a:t>Genotype Miss Rate Tracks Variant Missingness (VMISS) Exactly, r = 1.000</a:t>
            </a:r>
            <a:endParaRPr lang="zh-CN" altLang="en-US" sz="2400" b="1" u="sng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843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BA9F3D-4BA2-EEAD-E1D7-0BA5FEB3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36</a:t>
            </a:fld>
            <a:endParaRPr kumimoji="1" lang="zh-CN" alt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361346A-9055-AAE4-5B58-13BDD3BBA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558800"/>
            <a:ext cx="8657813" cy="596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5E42BB-EE17-EB46-8058-BB258E467BEC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 sz="2400" b="1" u="sng">
                <a:solidFill>
                  <a:srgbClr val="000000"/>
                </a:solidFill>
              </a:rPr>
              <a:t>Genotype Miss Rate Tracks Sample Missingness (SMISS) Exactly, r = 1.000</a:t>
            </a:r>
            <a:endParaRPr lang="zh-CN" altLang="en-US" sz="2400" b="1" u="sng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274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17E165-8419-A2CF-6100-639AE487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37</a:t>
            </a:fld>
            <a:endParaRPr kumimoji="1" lang="zh-CN" alt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F707B5D-AAD0-ECA8-A622-D3C10E16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558800"/>
            <a:ext cx="9355578" cy="596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B24C22D-DE9F-B34E-92CC-AAEF8493FDE5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 sz="2400" b="1" u="sng">
                <a:solidFill>
                  <a:srgbClr val="000000"/>
                </a:solidFill>
              </a:rPr>
              <a:t>Consistency Metric Distributions by Platform (Autosomes)</a:t>
            </a:r>
            <a:endParaRPr lang="zh-CN" altLang="en-US" sz="2400" b="1" u="sng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2016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6F6926-A0E7-67EB-B20F-B76EAC5D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071AE-009C-AD4C-9607-F95584ED42A9}" type="slidenum">
              <a:rPr kumimoji="1" lang="zh-CN" altLang="en-US" smtClean="0"/>
              <a:t>38</a:t>
            </a:fld>
            <a:endParaRPr kumimoji="1" lang="zh-CN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B37E503-24B7-3C7A-514B-5EE19A03F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558800"/>
            <a:ext cx="9646416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52C84C49-951C-6FA8-9004-EB7DF8910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556000"/>
            <a:ext cx="9650661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3070D88-F781-C44C-B9A7-8F4E3D423C5F}"/>
              </a:ext>
            </a:extLst>
          </p:cNvPr>
          <p:cNvSpPr txBox="1"/>
          <p:nvPr/>
        </p:nvSpPr>
        <p:spPr>
          <a:xfrm>
            <a:off x="0" y="0"/>
            <a:ext cx="11430000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 sz="2400" b="1" u="sng">
                <a:solidFill>
                  <a:srgbClr val="000000"/>
                </a:solidFill>
              </a:rPr>
              <a:t>Missingness at DP 8, GQ 20: 15x Averages 3.8%, 30x 2.1%</a:t>
            </a:r>
            <a:endParaRPr lang="zh-CN" altLang="en-US" sz="2400" b="1" u="sng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64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6E7344F-FFD6-6646-AFA7-A9FEB942C508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196f275b-73c6-4c07-988f-0b21075ea7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10499</TotalTime>
  <Words>5218</Words>
  <Application>Microsoft Macintosh PowerPoint</Application>
  <PresentationFormat>宽屏</PresentationFormat>
  <Paragraphs>667</Paragraphs>
  <Slides>38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5" baseType="lpstr">
      <vt:lpstr>等线</vt:lpstr>
      <vt:lpstr>等线</vt:lpstr>
      <vt:lpstr>等线 Light</vt:lpstr>
      <vt:lpstr>Arial</vt:lpstr>
      <vt:lpstr>Courier New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zhao.tie.36i@st.kyoto-u.ac.jp</dc:creator>
  <cp:lastModifiedBy>zhao.tie.36i@st.kyoto-u.ac.jp</cp:lastModifiedBy>
  <cp:revision>2</cp:revision>
  <dcterms:created xsi:type="dcterms:W3CDTF">2026-04-14T06:03:10Z</dcterms:created>
  <dcterms:modified xsi:type="dcterms:W3CDTF">2026-10-13T06:20:07Z</dcterms:modified>
</cp:coreProperties>
</file>